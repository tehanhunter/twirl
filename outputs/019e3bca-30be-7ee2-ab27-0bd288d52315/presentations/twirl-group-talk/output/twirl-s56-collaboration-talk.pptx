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8dd39a88044812" /><Relationship Type="http://schemas.openxmlformats.org/officeDocument/2006/relationships/extended-properties" Target="/docProps/app.xml" Id="R3f0f110b62de41d6" /><Relationship Type="http://schemas.openxmlformats.org/officeDocument/2006/relationships/officeDocument" Target="/ppt/presentation.xml" Id="R32d5d36c1eb440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b13e4316da4aca"/>
  </p:sldMasterIdLst>
  <p:notesMasterIdLst>
    <p:notesMasterId xmlns:r="http://schemas.openxmlformats.org/officeDocument/2006/relationships" r:id="R116ff05a8982497f"/>
  </p:notesMasterIdLst>
  <p:sldIdLst>
    <p:sldId xmlns:r="http://schemas.openxmlformats.org/officeDocument/2006/relationships" id="256" r:id="Rf883280c51c240d8"/>
    <p:sldId xmlns:r="http://schemas.openxmlformats.org/officeDocument/2006/relationships" id="257" r:id="R2404eaf88ae2444e"/>
    <p:sldId xmlns:r="http://schemas.openxmlformats.org/officeDocument/2006/relationships" id="258" r:id="R7d7012cf501f4d41"/>
    <p:sldId xmlns:r="http://schemas.openxmlformats.org/officeDocument/2006/relationships" id="259" r:id="R28e298f086e24ff6"/>
    <p:sldId xmlns:r="http://schemas.openxmlformats.org/officeDocument/2006/relationships" id="260" r:id="R3bd926462dd74ecd"/>
    <p:sldId xmlns:r="http://schemas.openxmlformats.org/officeDocument/2006/relationships" id="261" r:id="Rdb5dc5f8c7f14df5"/>
    <p:sldId xmlns:r="http://schemas.openxmlformats.org/officeDocument/2006/relationships" id="262" r:id="R52b1c5d5d22e43b8"/>
    <p:sldId xmlns:r="http://schemas.openxmlformats.org/officeDocument/2006/relationships" id="263" r:id="Rcf596651f70545a2"/>
    <p:sldId xmlns:r="http://schemas.openxmlformats.org/officeDocument/2006/relationships" id="264" r:id="Rc081bd021b104e01"/>
    <p:sldId xmlns:r="http://schemas.openxmlformats.org/officeDocument/2006/relationships" id="265" r:id="R8e509c68dce64f5e"/>
    <p:sldId xmlns:r="http://schemas.openxmlformats.org/officeDocument/2006/relationships" id="266" r:id="R50023d7a72db4f2f"/>
    <p:sldId xmlns:r="http://schemas.openxmlformats.org/officeDocument/2006/relationships" id="267" r:id="Rb3eeef8d90774775"/>
    <p:sldId xmlns:r="http://schemas.openxmlformats.org/officeDocument/2006/relationships" id="268" r:id="R866c6ce2ed2e4de6"/>
    <p:sldId xmlns:r="http://schemas.openxmlformats.org/officeDocument/2006/relationships" id="269" r:id="Rb1f6aa28e18a4e10"/>
    <p:sldId xmlns:r="http://schemas.openxmlformats.org/officeDocument/2006/relationships" id="270" r:id="R5837a8c6f8074b51"/>
    <p:sldId xmlns:r="http://schemas.openxmlformats.org/officeDocument/2006/relationships" id="271" r:id="R0101721c69ac44c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b13e4316da4aca" /><Relationship Type="http://schemas.openxmlformats.org/officeDocument/2006/relationships/theme" Target="/ppt/theme/theme1.xml" Id="Rae6a9379de4c4f37" /><Relationship Type="http://schemas.openxmlformats.org/officeDocument/2006/relationships/notesMaster" Target="/ppt/notesMasters/notesMaster1.xml" Id="R116ff05a8982497f" /><Relationship Type="http://schemas.openxmlformats.org/officeDocument/2006/relationships/presProps" Target="/ppt/presProps.xml" Id="R6fb17443ce2d4832" /><Relationship Type="http://schemas.openxmlformats.org/officeDocument/2006/relationships/viewProps" Target="/ppt/viewProps.xml" Id="Ra34f7e59a84c4717" /><Relationship Type="http://schemas.openxmlformats.org/officeDocument/2006/relationships/tableStyles" Target="/ppt/tableStyles.xml" Id="R401afeaab28d403a" /><Relationship Type="http://schemas.openxmlformats.org/officeDocument/2006/relationships/slide" Target="/ppt/slides/slide1.xml" Id="Rf883280c51c240d8" /><Relationship Type="http://schemas.openxmlformats.org/officeDocument/2006/relationships/slide" Target="/ppt/slides/slide2.xml" Id="R2404eaf88ae2444e" /><Relationship Type="http://schemas.openxmlformats.org/officeDocument/2006/relationships/slide" Target="/ppt/slides/slide3.xml" Id="R7d7012cf501f4d41" /><Relationship Type="http://schemas.openxmlformats.org/officeDocument/2006/relationships/slide" Target="/ppt/slides/slide4.xml" Id="R28e298f086e24ff6" /><Relationship Type="http://schemas.openxmlformats.org/officeDocument/2006/relationships/slide" Target="/ppt/slides/slide5.xml" Id="R3bd926462dd74ecd" /><Relationship Type="http://schemas.openxmlformats.org/officeDocument/2006/relationships/slide" Target="/ppt/slides/slide6.xml" Id="Rdb5dc5f8c7f14df5" /><Relationship Type="http://schemas.openxmlformats.org/officeDocument/2006/relationships/slide" Target="/ppt/slides/slide7.xml" Id="R52b1c5d5d22e43b8" /><Relationship Type="http://schemas.openxmlformats.org/officeDocument/2006/relationships/slide" Target="/ppt/slides/slide8.xml" Id="Rcf596651f70545a2" /><Relationship Type="http://schemas.openxmlformats.org/officeDocument/2006/relationships/slide" Target="/ppt/slides/slide9.xml" Id="Rc081bd021b104e01" /><Relationship Type="http://schemas.openxmlformats.org/officeDocument/2006/relationships/slide" Target="/ppt/slides/slide10.xml" Id="R8e509c68dce64f5e" /><Relationship Type="http://schemas.openxmlformats.org/officeDocument/2006/relationships/slide" Target="/ppt/slides/slide11.xml" Id="R50023d7a72db4f2f" /><Relationship Type="http://schemas.openxmlformats.org/officeDocument/2006/relationships/slide" Target="/ppt/slides/slide12.xml" Id="Rb3eeef8d90774775" /><Relationship Type="http://schemas.openxmlformats.org/officeDocument/2006/relationships/slide" Target="/ppt/slides/slide13.xml" Id="R866c6ce2ed2e4de6" /><Relationship Type="http://schemas.openxmlformats.org/officeDocument/2006/relationships/slide" Target="/ppt/slides/slide14.xml" Id="Rb1f6aa28e18a4e10" /><Relationship Type="http://schemas.openxmlformats.org/officeDocument/2006/relationships/slide" Target="/ppt/slides/slide15.xml" Id="R5837a8c6f8074b51" /><Relationship Type="http://schemas.openxmlformats.org/officeDocument/2006/relationships/slide" Target="/ppt/slides/slide16.xml" Id="R0101721c69ac44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72a529b5d7b4a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e97bf1cb1c4dcc" /><Relationship Type="http://schemas.openxmlformats.org/officeDocument/2006/relationships/notesMaster" Target="/ppt/notesMasters/notesMaster1.xml" Id="Rffa9cb9e752442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f3e154adcd42f9" /><Relationship Type="http://schemas.openxmlformats.org/officeDocument/2006/relationships/notesMaster" Target="/ppt/notesMasters/notesMaster1.xml" Id="R25a37508adb641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59d5142c4d4ac8" /><Relationship Type="http://schemas.openxmlformats.org/officeDocument/2006/relationships/notesMaster" Target="/ppt/notesMasters/notesMaster1.xml" Id="R5948d3ced72249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29e76883e14070" /><Relationship Type="http://schemas.openxmlformats.org/officeDocument/2006/relationships/notesMaster" Target="/ppt/notesMasters/notesMaster1.xml" Id="R46d9d61c586d43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8bad4d8ece4dd9" /><Relationship Type="http://schemas.openxmlformats.org/officeDocument/2006/relationships/notesMaster" Target="/ppt/notesMasters/notesMaster1.xml" Id="Ra497915726c842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3a67fa3b86468f" /><Relationship Type="http://schemas.openxmlformats.org/officeDocument/2006/relationships/notesMaster" Target="/ppt/notesMasters/notesMaster1.xml" Id="R2f37718baa1e42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7e22be19b945dd" /><Relationship Type="http://schemas.openxmlformats.org/officeDocument/2006/relationships/notesMaster" Target="/ppt/notesMasters/notesMaster1.xml" Id="R60f733adfcbf4b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31f3da3d54450e" /><Relationship Type="http://schemas.openxmlformats.org/officeDocument/2006/relationships/notesMaster" Target="/ppt/notesMasters/notesMaster1.xml" Id="R70762b6a876a44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a509f1345f428f" /><Relationship Type="http://schemas.openxmlformats.org/officeDocument/2006/relationships/notesMaster" Target="/ppt/notesMasters/notesMaster1.xml" Id="Rded2ab1939c947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aa86463acb439b" /><Relationship Type="http://schemas.openxmlformats.org/officeDocument/2006/relationships/notesMaster" Target="/ppt/notesMasters/notesMaster1.xml" Id="R53aef846583c42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3541403c0a4762" /><Relationship Type="http://schemas.openxmlformats.org/officeDocument/2006/relationships/notesMaster" Target="/ppt/notesMasters/notesMaster1.xml" Id="R5994b711724c44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6bc71636aa4d32" /><Relationship Type="http://schemas.openxmlformats.org/officeDocument/2006/relationships/notesMaster" Target="/ppt/notesMasters/notesMaster1.xml" Id="R7d9cffb49a164e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b0aeac5f044bdc" /><Relationship Type="http://schemas.openxmlformats.org/officeDocument/2006/relationships/notesMaster" Target="/ppt/notesMasters/notesMaster1.xml" Id="Rc2b7e2115b1644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c6fc4754aa4bed" /><Relationship Type="http://schemas.openxmlformats.org/officeDocument/2006/relationships/notesMaster" Target="/ppt/notesMasters/notesMaster1.xml" Id="R2287b3826bb04b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65ac40908e4940" /><Relationship Type="http://schemas.openxmlformats.org/officeDocument/2006/relationships/notesMaster" Target="/ppt/notesMasters/notesMaster1.xml" Id="R412bda316dba4e9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c816201170144b6" /><Relationship Type="http://schemas.openxmlformats.org/officeDocument/2006/relationships/notesMaster" Target="/ppt/notesMasters/notesMaster1.xml" Id="Rc24c6cfee2e140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e6cde63219457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43c7017e471413b" /><Relationship Type="http://schemas.openxmlformats.org/officeDocument/2006/relationships/slideLayout" Target="/ppt/slideLayouts/slideLayout2.xml" Id="Rd05602e2217341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5602e2217341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0a4e70255c47b5" /><Relationship Type="http://schemas.openxmlformats.org/officeDocument/2006/relationships/notesSlide" Target="/ppt/notesSlides/notesSlide1.xml" Id="R42bd1756531a48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6db17e5676492c" /><Relationship Type="http://schemas.openxmlformats.org/officeDocument/2006/relationships/notesSlide" Target="/ppt/notesSlides/notesSlide2.xml" Id="Rec7a362b7ddf45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536d1373e14876" /><Relationship Type="http://schemas.openxmlformats.org/officeDocument/2006/relationships/notesSlide" Target="/ppt/notesSlides/notesSlide3.xml" Id="R169343a43f384d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6b176440fd47e4" /><Relationship Type="http://schemas.openxmlformats.org/officeDocument/2006/relationships/notesSlide" Target="/ppt/notesSlides/notesSlide4.xml" Id="R86b5edbbba5e44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b5fe4e4e6540bb" /><Relationship Type="http://schemas.openxmlformats.org/officeDocument/2006/relationships/notesSlide" Target="/ppt/notesSlides/notesSlide5.xml" Id="R928d50adb60848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4257ce5bac410e" /><Relationship Type="http://schemas.openxmlformats.org/officeDocument/2006/relationships/image" Target="/ppt/media/image.png" Id="Ree110ce21cbf4be1" /><Relationship Type="http://schemas.openxmlformats.org/officeDocument/2006/relationships/notesSlide" Target="/ppt/notesSlides/notesSlide6.xml" Id="R1137e4c5baac40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3d0a470f814a67" /><Relationship Type="http://schemas.openxmlformats.org/officeDocument/2006/relationships/notesSlide" Target="/ppt/notesSlides/notesSlide7.xml" Id="R07fea4569df649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fa22e8a1a54fd0" /><Relationship Type="http://schemas.openxmlformats.org/officeDocument/2006/relationships/notesSlide" Target="/ppt/notesSlides/notesSlide8.xml" Id="Rb45fb60636be49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9d273bf7fb412d" /><Relationship Type="http://schemas.openxmlformats.org/officeDocument/2006/relationships/image" Target="/ppt/media/image2.png" Id="Rc37ff6e807a441f8" /><Relationship Type="http://schemas.openxmlformats.org/officeDocument/2006/relationships/notesSlide" Target="/ppt/notesSlides/notesSlide9.xml" Id="R5a13c56cdef846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c986c4806c48ea" /><Relationship Type="http://schemas.openxmlformats.org/officeDocument/2006/relationships/image" Target="/ppt/media/image3.png" Id="R9d5d75ae23ac4d31" /><Relationship Type="http://schemas.openxmlformats.org/officeDocument/2006/relationships/notesSlide" Target="/ppt/notesSlides/notesSlide10.xml" Id="Rb9026f91370e41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654c83229d4a6e" /><Relationship Type="http://schemas.openxmlformats.org/officeDocument/2006/relationships/notesSlide" Target="/ppt/notesSlides/notesSlide11.xml" Id="Rd80104e8a08648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564614d4424802" /><Relationship Type="http://schemas.openxmlformats.org/officeDocument/2006/relationships/notesSlide" Target="/ppt/notesSlides/notesSlide12.xml" Id="Rd2c81927d6d340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32053d65b044fe" /><Relationship Type="http://schemas.openxmlformats.org/officeDocument/2006/relationships/notesSlide" Target="/ppt/notesSlides/notesSlide13.xml" Id="R3dfdd0302af04b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7e6344fa874718" /><Relationship Type="http://schemas.openxmlformats.org/officeDocument/2006/relationships/notesSlide" Target="/ppt/notesSlides/notesSlide14.xml" Id="R86c64984bdb944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771a412b4b4495" /><Relationship Type="http://schemas.openxmlformats.org/officeDocument/2006/relationships/notesSlide" Target="/ppt/notesSlides/notesSlide15.xml" Id="R5ecd161ffa4c478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4c58b93de243e4" /><Relationship Type="http://schemas.openxmlformats.org/officeDocument/2006/relationships/notesSlide" Target="/ppt/notesSlides/notesSlide16.xml" Id="R6ea68ef039be4b2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5211E5A-9760-4045-ABEB-0A7D4840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8D902E9-9F77-41DC-B06C-FAEF95FE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FA752-EB95-44DD-8D36-0D41913A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A2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A23A"/>
                </a:solidFill>
                <a:latin typeface="Aptos"/>
                <a:ea typeface="Aptos"/>
                <a:cs typeface="Aptos"/>
              </a:rPr>
              <a:t>TWIRL GROUP TALK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EECAC-39D3-4B33-B1BA-865F4F4D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7F5EE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7F5EE"/>
                </a:solidFill>
                <a:latin typeface="Aptos Display"/>
                <a:ea typeface="Aptos Display"/>
                <a:cs typeface="Aptos Display"/>
              </a:rPr>
              <a:t>TWIRL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DEC65-D7F1-4FE6-A9B2-41223575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8001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DE4D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0">
                <a:solidFill>
                  <a:srgbClr val="DDE4DD"/>
                </a:solidFill>
                <a:latin typeface="Aptos Display"/>
                <a:ea typeface="Aptos Display"/>
                <a:cs typeface="Aptos Display"/>
              </a:rPr>
              <a:t>A 200 s TESS white-dwarf transit survey, scoped through the S56 vertical slice.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2E374-62F4-41C3-91FF-9AB243E7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4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E4DD"/>
                </a:solidFill>
                <a:latin typeface="Aptos"/>
                <a:ea typeface="Aptos"/>
                <a:cs typeface="Aptos"/>
              </a:rPr>
              <a:t>Goal for this meeting: agree on what the project is, what S56 proves, and where Michelle's search/vetting work should connect.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2CF13-D92F-433E-B224-91CD2D60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32"/>
          </a:solidFill>
          <a:ln xmlns:a="http://schemas.openxmlformats.org/drawingml/2006/main" w="9525">
            <a:solidFill>
              <a:srgbClr val="3552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9C3B9-A516-41CC-B7E9-F2E8517E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5E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F5EE"/>
                </a:solidFill>
                <a:latin typeface="Aptos Display"/>
                <a:ea typeface="Aptos Display"/>
                <a:cs typeface="Aptos Display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471F1-10D8-41F2-9606-1BF00F58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C7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FC7C1"/>
                </a:solidFill>
                <a:latin typeface="Aptos"/>
                <a:ea typeface="Aptos"/>
                <a:cs typeface="Aptos"/>
              </a:rPr>
              <a:t>200 s FFIs, Sector &gt;= 56, Gaia-first WDs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98038-762D-41E6-A548-9C6E5ED1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7675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32"/>
          </a:solidFill>
          <a:ln xmlns:a="http://schemas.openxmlformats.org/drawingml/2006/main" w="9525">
            <a:solidFill>
              <a:srgbClr val="355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317A6-6604-49E8-947D-90EAD2E8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5910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5E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F5EE"/>
                </a:solidFill>
                <a:latin typeface="Aptos Display"/>
                <a:ea typeface="Aptos Display"/>
                <a:cs typeface="Aptos Display"/>
              </a:rPr>
              <a:t>S56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D6A18-D691-497B-AF8F-CE724ECF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9720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C7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FC7C1"/>
                </a:solidFill>
                <a:latin typeface="Aptos"/>
                <a:ea typeface="Aptos"/>
                <a:cs typeface="Aptos"/>
              </a:rPr>
              <a:t>controlled test run with WD 1856 as benchmark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59D6B-5BBE-471E-8AA4-7BBD7252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32"/>
          </a:solidFill>
          <a:ln xmlns:a="http://schemas.openxmlformats.org/drawingml/2006/main" w="9525">
            <a:solidFill>
              <a:srgbClr val="3552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4943A-C777-423D-AFAB-C3094918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910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5E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F5EE"/>
                </a:solidFill>
                <a:latin typeface="Aptos Display"/>
                <a:ea typeface="Aptos Display"/>
                <a:cs typeface="Aptos Display"/>
              </a:rPr>
              <a:t>joint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746A6-014E-4B05-B9C0-A182EE88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720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C7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FC7C1"/>
                </a:solidFill>
                <a:latin typeface="Aptos"/>
                <a:ea typeface="Aptos"/>
                <a:cs typeface="Aptos"/>
              </a:rPr>
              <a:t>light curves, BLS, LEO, injections, follow-up gates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E02E61-9B05-4C1F-BE3F-DD2BEAF8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A2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A23A"/>
                </a:solidFill>
                <a:latin typeface="Aptos"/>
                <a:ea typeface="Aptos"/>
                <a:cs typeface="Aptos"/>
              </a:rPr>
              <a:t>45 minutes, with planned interruptions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EB6D4-F964-47D2-B4C2-2384D8B2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FC7C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FC7C1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823280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821CE58-37F2-4831-B5E4-AB88D212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5CF3C158-4ABF-49B4-B03F-0D6E7B46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100D827F-8200-4C10-8E90-0D82FAD2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E49F088D-3466-48A8-9A7D-9B51ECA9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TALK PLAN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BA7861D-09C8-4E2F-8C50-51DED16A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rPr>
              <a:t>The talk is structured around decisions, not a finished-result claim.</a:t>
            </a:r>
          </a:p>
        </p:txBody>
      </p:sp>
      <p:sp>
        <p:nvSpPr>
          <p:cNvPr id="6" name="agenda-0">
            <a:extLst xmlns:a="http://schemas.openxmlformats.org/drawingml/2006/main">
              <a:ext uri="{FF2B5EF4-FFF2-40B4-BE49-F238E27FC236}">
                <a16:creationId xmlns:a16="http://schemas.microsoft.com/office/drawing/2014/main" id="{9A6C8844-A5A6-4788-A02E-AD08F361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048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D5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4567D-E64B-48BA-9712-0D6664F2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241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0-12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966AD-9EF8-44FF-B7CD-0C29DCAD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628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21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321"/>
                </a:solidFill>
                <a:latin typeface="Aptos Display"/>
                <a:ea typeface="Aptos Display"/>
                <a:cs typeface="Aptos Display"/>
              </a:rPr>
              <a:t>Define the survey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442A2-CBE2-47CB-87A6-8F0D2EDD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2628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What event class, sample, and cadence regime are we actually signing up for?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65481-617E-473D-8FFD-7B80AEFE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pause for input</a:t>
            </a:r>
          </a:p>
        </p:txBody>
      </p:sp>
      <p:sp>
        <p:nvSpPr>
          <p:cNvPr id="11" name="agenda-1">
            <a:extLst xmlns:a="http://schemas.openxmlformats.org/drawingml/2006/main">
              <a:ext uri="{FF2B5EF4-FFF2-40B4-BE49-F238E27FC236}">
                <a16:creationId xmlns:a16="http://schemas.microsoft.com/office/drawing/2014/main" id="{19176B41-078C-4EAC-A89E-021AF27E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6385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1C4"/>
          </a:solidFill>
          <a:ln xmlns:a="http://schemas.openxmlformats.org/drawingml/2006/main" w="19050">
            <a:solidFill>
              <a:srgbClr val="B85C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11088-0F5F-41FE-828E-C4DF5324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241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12-28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E3189-1CFC-42A4-AFCE-D86152C7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86050"/>
            <a:ext cx="3219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21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321"/>
                </a:solidFill>
                <a:latin typeface="Aptos Display"/>
                <a:ea typeface="Aptos Display"/>
                <a:cs typeface="Aptos Display"/>
              </a:rPr>
              <a:t>Interrogate S56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36220-4F6F-45FC-A459-33F7486F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52800"/>
            <a:ext cx="3219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What did the WD 1856 benchmark, v2-vs-v3 LC product, and vetting stack prove?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0F8D1E-964F-4127-84DB-DECC7077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672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pause for input</a:t>
            </a:r>
          </a:p>
        </p:txBody>
      </p:sp>
      <p:sp>
        <p:nvSpPr>
          <p:cNvPr id="16" name="agenda-2">
            <a:extLst xmlns:a="http://schemas.openxmlformats.org/drawingml/2006/main">
              <a:ext uri="{FF2B5EF4-FFF2-40B4-BE49-F238E27FC236}">
                <a16:creationId xmlns:a16="http://schemas.microsoft.com/office/drawing/2014/main" id="{C1F95A38-8443-4D7B-BA3B-50E34F69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A"/>
          </a:solidFill>
          <a:ln xmlns:a="http://schemas.openxmlformats.org/drawingml/2006/main" w="19050">
            <a:solidFill>
              <a:srgbClr val="3B6E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9C536-E8C3-4967-B582-7A8F9D04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B6EA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6EA8"/>
                </a:solidFill>
                <a:latin typeface="Aptos"/>
                <a:ea typeface="Aptos"/>
                <a:cs typeface="Aptos"/>
              </a:rPr>
              <a:t>28-45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FDC55-2D9A-405B-ABA7-91C7CCB4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21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321"/>
                </a:solidFill>
                <a:latin typeface="Aptos Display"/>
                <a:ea typeface="Aptos Display"/>
                <a:cs typeface="Aptos Display"/>
              </a:rPr>
              <a:t>Set the collaboration interface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80350B-44CB-45E8-BCAE-C762B01C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5280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Where should Michelle's BLS/LEO work attach, and what do Andrew/Kevin need before scale-out?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D33EC2-FC56-4D20-A957-85F143F7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6E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B6EA8"/>
                </a:solidFill>
                <a:latin typeface="Aptos"/>
                <a:ea typeface="Aptos"/>
                <a:cs typeface="Aptos"/>
              </a:rPr>
              <a:t>pause for input</a:t>
            </a:r>
          </a:p>
        </p:txBody>
      </p:sp>
      <p:sp>
        <p:nvSpPr>
          <p:cNvPr id="21" name="timebar-bg">
            <a:extLst xmlns:a="http://schemas.openxmlformats.org/drawingml/2006/main">
              <a:ext uri="{FF2B5EF4-FFF2-40B4-BE49-F238E27FC236}">
                <a16:creationId xmlns:a16="http://schemas.microsoft.com/office/drawing/2014/main" id="{EB1644D1-2E3B-40C2-B4B3-135190BA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9963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imebar-scope">
            <a:extLst xmlns:a="http://schemas.openxmlformats.org/drawingml/2006/main">
              <a:ext uri="{FF2B5EF4-FFF2-40B4-BE49-F238E27FC236}">
                <a16:creationId xmlns:a16="http://schemas.microsoft.com/office/drawing/2014/main" id="{03DD18B4-8554-4B24-9417-2403FA5D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26574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imebar-s56">
            <a:extLst xmlns:a="http://schemas.openxmlformats.org/drawingml/2006/main">
              <a:ext uri="{FF2B5EF4-FFF2-40B4-BE49-F238E27FC236}">
                <a16:creationId xmlns:a16="http://schemas.microsoft.com/office/drawing/2014/main" id="{3F4BF2F7-C936-4052-9C43-ACC2AE68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143500"/>
            <a:ext cx="3543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timebar-collab">
            <a:extLst xmlns:a="http://schemas.openxmlformats.org/drawingml/2006/main">
              <a:ext uri="{FF2B5EF4-FFF2-40B4-BE49-F238E27FC236}">
                <a16:creationId xmlns:a16="http://schemas.microsoft.com/office/drawing/2014/main" id="{5D4D4A79-00D6-4C0A-A225-24FAB06B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143500"/>
            <a:ext cx="37623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3BC2062-90B7-4832-AEC9-46B17CBD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7FBC0937-1E6F-4C4A-A9F8-51D76031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Source: user talk brief plus TWIRL sprint plan.</a:t>
            </a:r>
          </a:p>
        </p:txBody>
      </p:sp>
      <p:sp>
        <p:nvSpPr>
          <p:cNvPr id="2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0C726E6-74FD-464C-A76A-3AB04483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311332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59657FD-141C-44B5-839D-7D42B946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22F57ECF-8013-4724-8506-CC5F775A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13BE6379-FC18-4A59-8CD9-46725848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FCE48C93-9933-4E33-AD41-DFF76AC1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86B4559-7170-4362-9269-0AB574A6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rPr>
              <a:t>TWIRL searches a narrow observable class before it makes occurrence-rate claims.</a:t>
            </a:r>
          </a:p>
        </p:txBody>
      </p:sp>
      <p:sp>
        <p:nvSpPr>
          <p:cNvPr id="6" name="in-scope">
            <a:extLst xmlns:a="http://schemas.openxmlformats.org/drawingml/2006/main">
              <a:ext uri="{FF2B5EF4-FFF2-40B4-BE49-F238E27FC236}">
                <a16:creationId xmlns:a16="http://schemas.microsoft.com/office/drawing/2014/main" id="{B1FBB447-55B6-43A0-9640-2D7D1D61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8101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D5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7" name="out-scope">
            <a:extLst xmlns:a="http://schemas.openxmlformats.org/drawingml/2006/main">
              <a:ext uri="{FF2B5EF4-FFF2-40B4-BE49-F238E27FC236}">
                <a16:creationId xmlns:a16="http://schemas.microsoft.com/office/drawing/2014/main" id="{B9378202-788A-4C93-AD56-CF51CC5B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1C4"/>
          </a:solidFill>
          <a:ln xmlns:a="http://schemas.openxmlformats.org/drawingml/2006/main" w="19050">
            <a:solidFill>
              <a:srgbClr val="B85C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C8434-31C7-48D6-B627-CC5ED1B0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322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5322F"/>
                </a:solidFill>
                <a:latin typeface="Aptos Display"/>
                <a:ea typeface="Aptos Display"/>
                <a:cs typeface="Aptos Display"/>
              </a:rPr>
              <a:t>In scope for the core survey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F48AD-EF59-43F3-98AD-BC2C65E4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322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5322F"/>
                </a:solidFill>
                <a:latin typeface="Aptos Display"/>
                <a:ea typeface="Aptos Display"/>
                <a:cs typeface="Aptos Display"/>
              </a:rPr>
              <a:t>Not a first-pass 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B2215-D19A-4104-9656-630C0278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71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3E96E-115C-4BCB-ABB6-AAC44F26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051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200 s TESS FFIs only: Sector &gt;= 56.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D1151-1EAB-4401-B5FC-02DB8AF4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67EE0-4DB7-4266-A87D-7726E900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Gaia DR3 source_id as the scientific identifier.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8D705-C5E1-45DE-9A6A-D8ECBF39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4CEB5-1728-4172-89CF-35484A02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814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White dwarfs from the GF21 parent catalog; Pwd &gt; 0.75 as current high-confidence reference.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77D9F-6461-47C3-892B-9B4CE07B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86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CF1BE-DDD1-4BDF-99CE-E816C451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955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Any transiting or occulting object around a WD.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9372FA-1792-4C3B-88D3-7BB8F7C7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24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892D04-0256-444E-9515-3517FCAB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Interpretable periodic search plus a later dip-search branch.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86585D-5BE9-4DE4-B71E-9EA72A61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71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01B3F4-7C35-4576-B032-93E2475C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No sectors 1-55 as primary survey input.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247A21-BE41-408D-9E7C-0DDF9A30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9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FECC6A-C991-46F3-B110-A78405F8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4325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No Earth-size or habitable-zone occurrence-rate claim before completeness.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77EAB2-22BC-4C34-826D-A77999FF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48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327EED-AA88-449B-BE67-F14333F7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814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No ML-first discovery engine.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E44CBC-064F-4793-9D53-B5FD8D3A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86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4E4640-D31D-4BCF-A21C-F5EA588A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1955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No survey denominator freeze until LC QA and sample cuts are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3F200B-D3E3-4B51-BBDA-78B6E838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24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5D2C02-A52B-4D67-981F-C926868B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577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No S57+ search results in this talk unless they are clearly separated from S56.</a:t>
            </a:r>
          </a:p>
        </p:txBody>
      </p:sp>
      <p:sp>
        <p:nvSpPr>
          <p:cNvPr id="30" name="room-input">
            <a:extLst xmlns:a="http://schemas.openxmlformats.org/drawingml/2006/main">
              <a:ext uri="{FF2B5EF4-FFF2-40B4-BE49-F238E27FC236}">
                <a16:creationId xmlns:a16="http://schemas.microsoft.com/office/drawing/2014/main" id="{7060E2C1-F139-4DE8-B066-3CDEC6B4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67375"/>
            <a:ext cx="101822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19050">
            <a:solidFill>
              <a:srgbClr val="D6A2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54233A-4472-4F86-92D2-6BF49D60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91200"/>
            <a:ext cx="975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Room input: should the first paper claim be framed as large periodic occultations, debris/dips, or both with separate completeness functions?</a:t>
            </a:r>
          </a:p>
        </p:txBody>
      </p:sp>
      <p:sp>
        <p:nvSpPr>
          <p:cNvPr id="3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CA3A472-7394-45CF-8CE9-3E91B120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D67EAC2-1060-4DC8-B6AE-00B614D4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Source: doc/twirl_plan.md; doc/ideas.md used only for open questions.</a:t>
            </a:r>
          </a:p>
        </p:txBody>
      </p:sp>
      <p:sp>
        <p:nvSpPr>
          <p:cNvPr id="3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85B5FC0-2BCE-44B3-8756-56743B90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66856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6AA1F94-54F1-403A-B12F-A47DBA31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C5ABD7AB-8850-49A5-AAE3-8FCC49F2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8A1132FA-52F9-4DD7-8F1F-857E830B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4A46C457-95B9-4929-8AC3-3FF7111F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A2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A23A"/>
                </a:solidFill>
                <a:latin typeface="Aptos"/>
                <a:ea typeface="Aptos"/>
                <a:cs typeface="Aptos"/>
              </a:rPr>
              <a:t>CADENCE REGIME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64BB9F3-5891-44FB-A98F-DB9EBB6F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rPr>
              <a:t>White-dwarf transits compress the search into minutes.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0057A-11CD-48B8-82F8-F09B7A7B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The cadence choice is not cosmetic: a 10-minute WD event has about three TESS 200 s samples, but becomes effectively invisible in 30-minute cadence.</a:t>
            </a:r>
          </a:p>
        </p:txBody>
      </p:sp>
      <p:sp>
        <p:nvSpPr>
          <p:cNvPr id="7" name="timeline">
            <a:extLst xmlns:a="http://schemas.openxmlformats.org/drawingml/2006/main">
              <a:ext uri="{FF2B5EF4-FFF2-40B4-BE49-F238E27FC236}">
                <a16:creationId xmlns:a16="http://schemas.microsoft.com/office/drawing/2014/main" id="{7E44CC07-7236-48BE-8DC5-947159D8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866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ick-0">
            <a:extLst xmlns:a="http://schemas.openxmlformats.org/drawingml/2006/main">
              <a:ext uri="{FF2B5EF4-FFF2-40B4-BE49-F238E27FC236}">
                <a16:creationId xmlns:a16="http://schemas.microsoft.com/office/drawing/2014/main" id="{C46B00EA-5140-439E-A99C-204F531F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43275"/>
            <a:ext cx="19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6BE28-0EFF-41FE-AC16-FDB46C10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" name="tick-200">
            <a:extLst xmlns:a="http://schemas.openxmlformats.org/drawingml/2006/main">
              <a:ext uri="{FF2B5EF4-FFF2-40B4-BE49-F238E27FC236}">
                <a16:creationId xmlns:a16="http://schemas.microsoft.com/office/drawing/2014/main" id="{4B347C5D-30CD-4F17-A86A-0ABF4E38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167" y="3343275"/>
            <a:ext cx="19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6DF19-4679-453C-909B-D9D938DB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367" y="36004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200 s</a:t>
            </a:r>
          </a:p>
        </p:txBody>
      </p:sp>
      <p:sp>
        <p:nvSpPr>
          <p:cNvPr id="12" name="tick-400">
            <a:extLst xmlns:a="http://schemas.openxmlformats.org/drawingml/2006/main">
              <a:ext uri="{FF2B5EF4-FFF2-40B4-BE49-F238E27FC236}">
                <a16:creationId xmlns:a16="http://schemas.microsoft.com/office/drawing/2014/main" id="{B1F9150F-A1FB-4978-A91C-509B8ABD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5333" y="3343275"/>
            <a:ext cx="19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BA32A-445A-45B5-A08B-36737AA3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533" y="36004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400 s</a:t>
            </a:r>
          </a:p>
        </p:txBody>
      </p:sp>
      <p:sp>
        <p:nvSpPr>
          <p:cNvPr id="14" name="tick-600">
            <a:extLst xmlns:a="http://schemas.openxmlformats.org/drawingml/2006/main">
              <a:ext uri="{FF2B5EF4-FFF2-40B4-BE49-F238E27FC236}">
                <a16:creationId xmlns:a16="http://schemas.microsoft.com/office/drawing/2014/main" id="{A41E16EA-A006-499B-A94E-64EDF804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500" y="3343275"/>
            <a:ext cx="19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325532-D10B-4FD0-9CD9-7D46FBC7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700" y="36004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10 min</a:t>
            </a:r>
          </a:p>
        </p:txBody>
      </p:sp>
      <p:sp>
        <p:nvSpPr>
          <p:cNvPr id="16" name="tick-900">
            <a:extLst xmlns:a="http://schemas.openxmlformats.org/drawingml/2006/main">
              <a:ext uri="{FF2B5EF4-FFF2-40B4-BE49-F238E27FC236}">
                <a16:creationId xmlns:a16="http://schemas.microsoft.com/office/drawing/2014/main" id="{611E62BA-5EAD-43A3-BED1-C1DE9372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43275"/>
            <a:ext cx="19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8D563-0347-4ADB-BB48-CB7BD4D0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004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15 min</a:t>
            </a:r>
          </a:p>
        </p:txBody>
      </p:sp>
      <p:sp>
        <p:nvSpPr>
          <p:cNvPr id="18" name="cadence-dot-0">
            <a:extLst xmlns:a="http://schemas.openxmlformats.org/drawingml/2006/main">
              <a:ext uri="{FF2B5EF4-FFF2-40B4-BE49-F238E27FC236}">
                <a16:creationId xmlns:a16="http://schemas.microsoft.com/office/drawing/2014/main" id="{3B37D40E-4C1F-47D8-92E7-7B20338F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813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cadence-dot-200">
            <a:extLst xmlns:a="http://schemas.openxmlformats.org/drawingml/2006/main">
              <a:ext uri="{FF2B5EF4-FFF2-40B4-BE49-F238E27FC236}">
                <a16:creationId xmlns:a16="http://schemas.microsoft.com/office/drawing/2014/main" id="{D0CC3348-3358-4D1E-88FC-CC035E8D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492" y="29813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cadence-dot-400">
            <a:extLst xmlns:a="http://schemas.openxmlformats.org/drawingml/2006/main">
              <a:ext uri="{FF2B5EF4-FFF2-40B4-BE49-F238E27FC236}">
                <a16:creationId xmlns:a16="http://schemas.microsoft.com/office/drawing/2014/main" id="{6E9AB52C-8173-451C-820B-322C058F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58" y="29813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cadence-dot-600">
            <a:extLst xmlns:a="http://schemas.openxmlformats.org/drawingml/2006/main">
              <a:ext uri="{FF2B5EF4-FFF2-40B4-BE49-F238E27FC236}">
                <a16:creationId xmlns:a16="http://schemas.microsoft.com/office/drawing/2014/main" id="{DAE340A3-7184-47E0-8571-495F7076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825" y="29813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wd-event-bar">
            <a:extLst xmlns:a="http://schemas.openxmlformats.org/drawingml/2006/main">
              <a:ext uri="{FF2B5EF4-FFF2-40B4-BE49-F238E27FC236}">
                <a16:creationId xmlns:a16="http://schemas.microsoft.com/office/drawing/2014/main" id="{DF3E0FCC-C4CC-40AE-BD91-BD7D1C5E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86000"/>
            <a:ext cx="481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B4"/>
          </a:solidFill>
          <a:ln xmlns:a="http://schemas.openxmlformats.org/drawingml/2006/main" w="9525">
            <a:solidFill>
              <a:srgbClr val="D6A2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1F1AEA-DF43-487A-BFE0-8C32E1AE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0982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2-15 min WD occultation window</a:t>
            </a:r>
          </a:p>
        </p:txBody>
      </p:sp>
      <p:sp>
        <p:nvSpPr>
          <p:cNvPr id="24" name="longer-event-bar">
            <a:extLst xmlns:a="http://schemas.openxmlformats.org/drawingml/2006/main">
              <a:ext uri="{FF2B5EF4-FFF2-40B4-BE49-F238E27FC236}">
                <a16:creationId xmlns:a16="http://schemas.microsoft.com/office/drawing/2014/main" id="{1DA777BC-0461-4D36-8EE3-E66BC02E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286000"/>
            <a:ext cx="220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1C4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02F3EE-D6CD-4A4A-9DC6-23FD90E7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982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PCEB / larger-body tail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4ED65E-8E28-4EA7-8899-A8D44FC0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84942C-40F9-488F-A596-1B2F8B45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rPr>
              <a:t>3 samples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0ED96B-F1F8-4982-B4DF-1A6A17DF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for a 10-minute event at 200 s cadence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E106F0-17D4-4D9B-B6B0-D32C9482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4D034B-13A5-408D-A443-8FF3358D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7680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85C3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B85C38"/>
                </a:solidFill>
                <a:latin typeface="Aptos Display"/>
                <a:ea typeface="Aptos Display"/>
                <a:cs typeface="Aptos Display"/>
              </a:rPr>
              <a:t>0-1 samples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65F794-3822-4F42-87A2-9DE84E11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25780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for the same event at 30-minute cadence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C7C858-CA61-4DC3-BC55-5B0CE889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625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88815B-FCC3-4C5A-A4C7-2EC8AD68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7680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6A23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D6A23A"/>
                </a:solidFill>
                <a:latin typeface="Aptos Display"/>
                <a:ea typeface="Aptos Display"/>
                <a:cs typeface="Aptos Display"/>
              </a:rPr>
              <a:t>not enough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C88369-0ED3-4F60-99D0-811454A6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25780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WD 1856 recovery is a benchmark, not completeness</a:t>
            </a:r>
          </a:p>
        </p:txBody>
      </p:sp>
      <p:sp>
        <p:nvSpPr>
          <p:cNvPr id="3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561166B-910B-4FE7-9808-A463C3EE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5988B07-5C06-42FF-97A1-E0CCA206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Source: doc/ideas.md scientific motivation; doc/twirl_plan.md design drivers.</a:t>
            </a:r>
          </a:p>
        </p:txBody>
      </p:sp>
      <p:sp>
        <p:nvSpPr>
          <p:cNvPr id="3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2111B68-A213-4529-9B90-3DAD2C90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44330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F14AC9E-8B19-4F31-AA06-8770EE5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BC253AD0-F447-47CF-924D-8AACBF38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72DEAE28-C990-4614-B033-EFD3DC21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C568A77C-2D65-4FD6-BC17-10D370F7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7145623-BFE8-42F3-A87F-00BE89A3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rPr>
              <a:t>Light curves are the shared substrate for every later result.</a:t>
            </a:r>
          </a:p>
        </p:txBody>
      </p:sp>
      <p:sp>
        <p:nvSpPr>
          <p:cNvPr id="6" name="stage-top-0">
            <a:extLst xmlns:a="http://schemas.openxmlformats.org/drawingml/2006/main">
              <a:ext uri="{FF2B5EF4-FFF2-40B4-BE49-F238E27FC236}">
                <a16:creationId xmlns:a16="http://schemas.microsoft.com/office/drawing/2014/main" id="{3CAA76A2-3965-441E-B286-B1076E18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2305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7" name="stage-top-0-stripe">
            <a:extLst xmlns:a="http://schemas.openxmlformats.org/drawingml/2006/main">
              <a:ext uri="{FF2B5EF4-FFF2-40B4-BE49-F238E27FC236}">
                <a16:creationId xmlns:a16="http://schemas.microsoft.com/office/drawing/2014/main" id="{EB0286A1-18D8-44EE-96C7-DD085156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EFAA7-F3BD-49D2-9136-D1499FAF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Gaia WD seed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B52AC-3290-4E68-8DFB-ED16929E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GF21 catalog; Gaia DR3 source_id</a:t>
            </a:r>
          </a:p>
        </p:txBody>
      </p:sp>
      <p:sp>
        <p:nvSpPr>
          <p:cNvPr id="10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530E4DD3-D7FD-4F9E-ADAD-1FCEC25C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146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connector-end">
            <a:extLst xmlns:a="http://schemas.openxmlformats.org/drawingml/2006/main">
              <a:ext uri="{FF2B5EF4-FFF2-40B4-BE49-F238E27FC236}">
                <a16:creationId xmlns:a16="http://schemas.microsoft.com/office/drawing/2014/main" id="{4AE18439-6012-42F7-8C83-A5008929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tage-top-1">
            <a:extLst xmlns:a="http://schemas.openxmlformats.org/drawingml/2006/main">
              <a:ext uri="{FF2B5EF4-FFF2-40B4-BE49-F238E27FC236}">
                <a16:creationId xmlns:a16="http://schemas.microsoft.com/office/drawing/2014/main" id="{3404E41A-FCB2-4E99-8E90-51B6F9CA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62150"/>
            <a:ext cx="2305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13" name="stage-top-1-stripe">
            <a:extLst xmlns:a="http://schemas.openxmlformats.org/drawingml/2006/main">
              <a:ext uri="{FF2B5EF4-FFF2-40B4-BE49-F238E27FC236}">
                <a16:creationId xmlns:a16="http://schemas.microsoft.com/office/drawing/2014/main" id="{90F6B80E-9669-4FD5-AC82-7EDE6D2B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62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4BEF89-82F4-43A8-A0FB-BC28B299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764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TESS coverage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7F2C9-4E07-486A-B1B0-9DCCBF5B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43150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Sector/orbit/camera/CCD map</a:t>
            </a:r>
          </a:p>
        </p:txBody>
      </p:sp>
      <p:sp>
        <p:nvSpPr>
          <p:cNvPr id="16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BD64946D-DC2B-431F-9E33-DBC9109C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146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connector-end">
            <a:extLst xmlns:a="http://schemas.openxmlformats.org/drawingml/2006/main">
              <a:ext uri="{FF2B5EF4-FFF2-40B4-BE49-F238E27FC236}">
                <a16:creationId xmlns:a16="http://schemas.microsoft.com/office/drawing/2014/main" id="{33F749EB-BFFC-4EA4-B627-DECCABA9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tage-top-2">
            <a:extLst xmlns:a="http://schemas.openxmlformats.org/drawingml/2006/main">
              <a:ext uri="{FF2B5EF4-FFF2-40B4-BE49-F238E27FC236}">
                <a16:creationId xmlns:a16="http://schemas.microsoft.com/office/drawing/2014/main" id="{DBC69A03-C453-457A-8B13-FAAA097A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62150"/>
            <a:ext cx="2305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19" name="stage-top-2-stripe">
            <a:extLst xmlns:a="http://schemas.openxmlformats.org/drawingml/2006/main">
              <a:ext uri="{FF2B5EF4-FFF2-40B4-BE49-F238E27FC236}">
                <a16:creationId xmlns:a16="http://schemas.microsoft.com/office/drawing/2014/main" id="{0349C569-5B88-4CB4-BA60-9425C8AC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62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274952-CC99-46BC-BEAC-191AF190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MIT TGLC HDF5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40C49-0E90-4073-A9AA-D18E4B41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1x1, 3x3, 5x5 decontaminated apertures</a:t>
            </a:r>
          </a:p>
        </p:txBody>
      </p:sp>
      <p:sp>
        <p:nvSpPr>
          <p:cNvPr id="22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BCBAF61D-234E-4048-99D2-5C9B0881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146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connector-end">
            <a:extLst xmlns:a="http://schemas.openxmlformats.org/drawingml/2006/main">
              <a:ext uri="{FF2B5EF4-FFF2-40B4-BE49-F238E27FC236}">
                <a16:creationId xmlns:a16="http://schemas.microsoft.com/office/drawing/2014/main" id="{1E83902C-4608-4CF5-B956-91150CDF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tage-top-3">
            <a:extLst xmlns:a="http://schemas.openxmlformats.org/drawingml/2006/main">
              <a:ext uri="{FF2B5EF4-FFF2-40B4-BE49-F238E27FC236}">
                <a16:creationId xmlns:a16="http://schemas.microsoft.com/office/drawing/2014/main" id="{D7EC0781-CB60-46A7-84C3-6C3F43D5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62150"/>
            <a:ext cx="2305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19050">
            <a:solidFill>
              <a:srgbClr val="B85C38"/>
            </a:solidFill>
            <a:prstDash val="solid"/>
          </a:ln>
        </p:spPr>
      </p:sp>
      <p:sp>
        <p:nvSpPr>
          <p:cNvPr id="25" name="stage-top-3-stripe">
            <a:extLst xmlns:a="http://schemas.openxmlformats.org/drawingml/2006/main">
              <a:ext uri="{FF2B5EF4-FFF2-40B4-BE49-F238E27FC236}">
                <a16:creationId xmlns:a16="http://schemas.microsoft.com/office/drawing/2014/main" id="{2567CF32-0C29-4369-9D7B-EA353772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62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80B09F-5CC1-43E5-A4E8-A2000180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TWIRL HLSP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9A1B87-67B9-4DBE-864F-EE248F13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Flux-space detrend; QLP-compatible schema</a:t>
            </a:r>
          </a:p>
        </p:txBody>
      </p:sp>
      <p:sp>
        <p:nvSpPr>
          <p:cNvPr id="28" name="stage-bottom-0">
            <a:extLst xmlns:a="http://schemas.openxmlformats.org/drawingml/2006/main">
              <a:ext uri="{FF2B5EF4-FFF2-40B4-BE49-F238E27FC236}">
                <a16:creationId xmlns:a16="http://schemas.microsoft.com/office/drawing/2014/main" id="{83D157E0-9153-4A11-9536-96C811D5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305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19050">
            <a:solidFill>
              <a:srgbClr val="3B6EA8"/>
            </a:solidFill>
            <a:prstDash val="solid"/>
          </a:ln>
        </p:spPr>
      </p:sp>
      <p:sp>
        <p:nvSpPr>
          <p:cNvPr id="29" name="stage-bottom-0-stripe">
            <a:extLst xmlns:a="http://schemas.openxmlformats.org/drawingml/2006/main">
              <a:ext uri="{FF2B5EF4-FFF2-40B4-BE49-F238E27FC236}">
                <a16:creationId xmlns:a16="http://schemas.microsoft.com/office/drawing/2014/main" id="{1504A665-EC15-4A16-9649-1ED61D41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8DA597-3704-4CED-88BD-6F64ADA2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BB110F-F2EC-44E3-9AB8-41A67C19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BLS now; dip branch later</a:t>
            </a:r>
          </a:p>
        </p:txBody>
      </p:sp>
      <p:sp>
        <p:nvSpPr>
          <p:cNvPr id="32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12438B3E-A8E6-42D1-9454-6121C460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529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connector-end">
            <a:extLst xmlns:a="http://schemas.openxmlformats.org/drawingml/2006/main">
              <a:ext uri="{FF2B5EF4-FFF2-40B4-BE49-F238E27FC236}">
                <a16:creationId xmlns:a16="http://schemas.microsoft.com/office/drawing/2014/main" id="{DDFA4972-7566-452F-8FE8-0B719AB1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14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stage-bottom-1">
            <a:extLst xmlns:a="http://schemas.openxmlformats.org/drawingml/2006/main">
              <a:ext uri="{FF2B5EF4-FFF2-40B4-BE49-F238E27FC236}">
                <a16:creationId xmlns:a16="http://schemas.microsoft.com/office/drawing/2014/main" id="{7CD58F1D-D1DA-4A95-AF8D-8A749E18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00500"/>
            <a:ext cx="2305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19050">
            <a:solidFill>
              <a:srgbClr val="3B6EA8"/>
            </a:solidFill>
            <a:prstDash val="solid"/>
          </a:ln>
        </p:spPr>
      </p:sp>
      <p:sp>
        <p:nvSpPr>
          <p:cNvPr id="35" name="stage-bottom-1-stripe">
            <a:extLst xmlns:a="http://schemas.openxmlformats.org/drawingml/2006/main">
              <a:ext uri="{FF2B5EF4-FFF2-40B4-BE49-F238E27FC236}">
                <a16:creationId xmlns:a16="http://schemas.microsoft.com/office/drawing/2014/main" id="{70F60313-CAF7-4961-96E2-F2FACC70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005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D5DCE7-F6EF-4738-91C4-D2AC1607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148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Vetting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F2253B-64BD-4F0A-A1CA-D4D6A863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Heuristic classes + LEO-WD tuning</a:t>
            </a:r>
          </a:p>
        </p:txBody>
      </p:sp>
      <p:sp>
        <p:nvSpPr>
          <p:cNvPr id="38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CA9D9425-9B8E-4408-8D07-F77AB7D0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529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connector-end">
            <a:extLst xmlns:a="http://schemas.openxmlformats.org/drawingml/2006/main">
              <a:ext uri="{FF2B5EF4-FFF2-40B4-BE49-F238E27FC236}">
                <a16:creationId xmlns:a16="http://schemas.microsoft.com/office/drawing/2014/main" id="{B5070B88-FE49-436A-9E27-5FEEDCF3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stage-bottom-2">
            <a:extLst xmlns:a="http://schemas.openxmlformats.org/drawingml/2006/main">
              <a:ext uri="{FF2B5EF4-FFF2-40B4-BE49-F238E27FC236}">
                <a16:creationId xmlns:a16="http://schemas.microsoft.com/office/drawing/2014/main" id="{77256F11-482F-4C80-BF6E-89EF7F4B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2305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19050">
            <a:solidFill>
              <a:srgbClr val="D6A23A"/>
            </a:solidFill>
            <a:prstDash val="solid"/>
          </a:ln>
        </p:spPr>
      </p:sp>
      <p:sp>
        <p:nvSpPr>
          <p:cNvPr id="41" name="stage-bottom-2-stripe">
            <a:extLst xmlns:a="http://schemas.openxmlformats.org/drawingml/2006/main">
              <a:ext uri="{FF2B5EF4-FFF2-40B4-BE49-F238E27FC236}">
                <a16:creationId xmlns:a16="http://schemas.microsoft.com/office/drawing/2014/main" id="{6573A0D3-C86E-4BFE-B23D-E5056D08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1F2190-9AE7-48D2-800E-A321DE48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148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Injections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E67F8E-A4EA-406F-ADF9-D18A5F00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81500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End-to-end completeness, not just detection</a:t>
            </a:r>
          </a:p>
        </p:txBody>
      </p:sp>
      <p:sp>
        <p:nvSpPr>
          <p:cNvPr id="44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96A47D1A-A80B-4403-938F-9DA0DC78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529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connector-end">
            <a:extLst xmlns:a="http://schemas.openxmlformats.org/drawingml/2006/main">
              <a:ext uri="{FF2B5EF4-FFF2-40B4-BE49-F238E27FC236}">
                <a16:creationId xmlns:a16="http://schemas.microsoft.com/office/drawing/2014/main" id="{14583392-CE64-4448-9745-7F65CA1E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14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stage-bottom-3">
            <a:extLst xmlns:a="http://schemas.openxmlformats.org/drawingml/2006/main">
              <a:ext uri="{FF2B5EF4-FFF2-40B4-BE49-F238E27FC236}">
                <a16:creationId xmlns:a16="http://schemas.microsoft.com/office/drawing/2014/main" id="{2EEAC5E1-086E-4941-B4D4-DB6B4901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0"/>
            <a:ext cx="2305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19050">
            <a:solidFill>
              <a:srgbClr val="D6A23A"/>
            </a:solidFill>
            <a:prstDash val="solid"/>
          </a:ln>
        </p:spPr>
      </p:sp>
      <p:sp>
        <p:nvSpPr>
          <p:cNvPr id="47" name="stage-bottom-3-stripe">
            <a:extLst xmlns:a="http://schemas.openxmlformats.org/drawingml/2006/main">
              <a:ext uri="{FF2B5EF4-FFF2-40B4-BE49-F238E27FC236}">
                <a16:creationId xmlns:a16="http://schemas.microsoft.com/office/drawing/2014/main" id="{7FAC63CF-B05D-4F8A-8FF8-5BF34BCF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A2F58A-0A91-4034-8571-B6B11BDE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148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Science products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2AC0E4-C2A4-41B0-8BD8-E611EBC0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81500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Candidates, occurrence limits, follow-up targets</a:t>
            </a:r>
          </a:p>
        </p:txBody>
      </p:sp>
      <p:sp>
        <p:nvSpPr>
          <p:cNvPr id="50" name="down-connector">
            <a:extLst xmlns:a="http://schemas.openxmlformats.org/drawingml/2006/main">
              <a:ext uri="{FF2B5EF4-FFF2-40B4-BE49-F238E27FC236}">
                <a16:creationId xmlns:a16="http://schemas.microsoft.com/office/drawing/2014/main" id="{1BBACE6D-07A8-45FD-BA9B-D936897D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86100"/>
            <a:ext cx="19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down-end">
            <a:extLst xmlns:a="http://schemas.openxmlformats.org/drawingml/2006/main">
              <a:ext uri="{FF2B5EF4-FFF2-40B4-BE49-F238E27FC236}">
                <a16:creationId xmlns:a16="http://schemas.microsoft.com/office/drawing/2014/main" id="{7A95F340-47B4-46C2-ADE0-F74CC057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943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pipeline-point">
            <a:extLst xmlns:a="http://schemas.openxmlformats.org/drawingml/2006/main">
              <a:ext uri="{FF2B5EF4-FFF2-40B4-BE49-F238E27FC236}">
                <a16:creationId xmlns:a16="http://schemas.microsoft.com/office/drawing/2014/main" id="{8B250F1F-E21B-4F17-86E1-7FA248AB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19050">
            <a:solidFill>
              <a:srgbClr val="D6A23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F350C0-8292-48CF-8615-F437B941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38800"/>
            <a:ext cx="942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322F"/>
                </a:solidFill>
                <a:latin typeface="Aptos"/>
                <a:ea typeface="Aptos"/>
                <a:cs typeface="Aptos"/>
              </a:rPr>
              <a:t>Talk discipline: every downstream result should be traceable to a versioned light-curve product and a documented search/vetter configuration.</a:t>
            </a:r>
          </a:p>
        </p:txBody>
      </p:sp>
      <p:sp>
        <p:nvSpPr>
          <p:cNvPr id="5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2CCB9C9-C812-4A1C-BCDA-7573C6E8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755F831-B22B-435F-8712-853F0472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Source: doc/twirl_plan.md Stage 1-5 structure.</a:t>
            </a:r>
          </a:p>
        </p:txBody>
      </p:sp>
      <p:sp>
        <p:nvSpPr>
          <p:cNvPr id="5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69A91DF-85D3-4257-BA3B-702D5AD6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71182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451033A-3DCF-4EAD-90D2-02133787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8C0ACF20-447E-42A2-A4BB-B70B748C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DD4A3377-3917-495D-A478-44C33707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87D28C45-6DC8-4126-B3F1-28841F41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PARENT SAMPLE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B65669B-25AD-4DE0-B392-444AD46C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rPr>
              <a:t>The denominator is Gaia-first, but it is not frozen yet.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1119E-BA71-40F2-AD43-91DB4CE1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209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6A952-FE86-42C6-BE21-348AFA8E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rPr>
              <a:t>359,073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2037D-3B01-41AE-8B9F-76AC42F5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high-confidence WDs at Pwd &gt; 0.75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54099-B762-468F-9702-F75C45BB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09750"/>
            <a:ext cx="2209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39958-E34D-4F3A-89E9-376A4110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240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6A23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D6A23A"/>
                </a:solidFill>
                <a:latin typeface="Aptos Display"/>
                <a:ea typeface="Aptos Display"/>
                <a:cs typeface="Aptos Display"/>
              </a:rPr>
              <a:t>339,292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0A2CA-F9A9-457C-BDEF-B72FE8E5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high-confidence WDs with Sector &gt;= 56 footprint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09567-9F24-430A-AB27-FB4AE0D9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209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E6D0E-FC4C-458C-BF30-AE09FEFD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B6EA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3B6EA8"/>
                </a:solidFill>
                <a:latin typeface="Aptos Display"/>
                <a:ea typeface="Aptos Display"/>
                <a:cs typeface="Aptos Display"/>
              </a:rPr>
              <a:t>320,049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5EE51-253B-4686-B26B-19BC5EE3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high-confidence WDs observed before Sector 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D40A5-9103-4040-B107-2602205D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95600"/>
            <a:ext cx="2209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BDD74-5078-4233-8B5E-47783A44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099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5C3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85C38"/>
                </a:solidFill>
                <a:latin typeface="Aptos Display"/>
                <a:ea typeface="Aptos Display"/>
                <a:cs typeface="Aptos Display"/>
              </a:rPr>
              <a:t>Gaia DR3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F01DD-547C-40E9-B706-77A4FB88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909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authoritative target id; TIC is operational 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7FC244-167E-4C73-8046-02820B05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4400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The exact occurrence-rate denominator should be locked only after light-curve collection, QA, and parent-sample cuts are explicit.</a:t>
            </a:r>
          </a:p>
        </p:txBody>
      </p:sp>
      <p:sp>
        <p:nvSpPr>
          <p:cNvPr id="19" name="coverage-frame">
            <a:extLst xmlns:a="http://schemas.openxmlformats.org/drawingml/2006/main">
              <a:ext uri="{FF2B5EF4-FFF2-40B4-BE49-F238E27FC236}">
                <a16:creationId xmlns:a16="http://schemas.microsoft.com/office/drawing/2014/main" id="{079C5FB9-81C8-4E55-9BDC-1F664C49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123950"/>
            <a:ext cx="51435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10ce21cbf4be1"/>
          <a:stretch xmlns:a="http://schemas.openxmlformats.org/drawingml/2006/main"/>
        </p:blipFill>
        <p:spPr>
          <a:xfrm xmlns:a="http://schemas.openxmlformats.org/drawingml/2006/main">
            <a:off x="6958708" y="1276350"/>
            <a:ext cx="3227584" cy="42291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63237E-9620-473B-B22C-7F5E812B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197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Coverage map shows repeated 200 s-sector access; it is not a finalized statistical denominator.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69B9C26-5E46-4B16-8DD6-812B1BD2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D469DDF-BF1F-4B87-B3C0-0E906540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Source: doc/twirl_progress_log.md 2026-04-01; coverage diagnostic PNG.</a:t>
            </a:r>
          </a:p>
        </p:txBody>
      </p:sp>
      <p:sp>
        <p:nvSpPr>
          <p:cNvPr id="2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B991543-2BFB-4166-899F-305E2EFE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111327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8CE1487-68F1-4503-9838-0E07ADFE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036F5BC4-B4DE-464D-8471-443B9DB0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7248ED77-6BC7-4A41-8337-1F4B4A50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37CE3B42-581B-4224-B78B-70E3CE90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S56 VERTICAL SLICE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C85AE65-6AF1-4296-B131-26C77587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rPr>
              <a:t>S56 is a controlled vertical slice, not a mini-survey.</a:t>
            </a:r>
          </a:p>
        </p:txBody>
      </p:sp>
      <p:sp>
        <p:nvSpPr>
          <p:cNvPr id="6" name="cam1-ccd1">
            <a:extLst xmlns:a="http://schemas.openxmlformats.org/drawingml/2006/main">
              <a:ext uri="{FF2B5EF4-FFF2-40B4-BE49-F238E27FC236}">
                <a16:creationId xmlns:a16="http://schemas.microsoft.com/office/drawing/2014/main" id="{F2D94243-1F94-4002-A1E6-C9EFC86C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0E052-22A8-4A8C-B628-7973E171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859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c1</a:t>
            </a:r>
          </a:p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cam1-ccd2">
            <a:extLst xmlns:a="http://schemas.openxmlformats.org/drawingml/2006/main">
              <a:ext uri="{FF2B5EF4-FFF2-40B4-BE49-F238E27FC236}">
                <a16:creationId xmlns:a16="http://schemas.microsoft.com/office/drawing/2014/main" id="{A294E3F5-97A8-4A89-9C43-FB8E871F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00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7ECD0-C296-4398-A297-885C8CA2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859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c1</a:t>
            </a:r>
          </a:p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cam1-ccd3">
            <a:extLst xmlns:a="http://schemas.openxmlformats.org/drawingml/2006/main">
              <a:ext uri="{FF2B5EF4-FFF2-40B4-BE49-F238E27FC236}">
                <a16:creationId xmlns:a16="http://schemas.microsoft.com/office/drawing/2014/main" id="{E33064C8-41F0-4441-BF0B-4A68B807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0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8DAF8-B696-44E5-9896-9D1AA496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859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c1</a:t>
            </a:r>
          </a:p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cam1-ccd4">
            <a:extLst xmlns:a="http://schemas.openxmlformats.org/drawingml/2006/main">
              <a:ext uri="{FF2B5EF4-FFF2-40B4-BE49-F238E27FC236}">
                <a16:creationId xmlns:a16="http://schemas.microsoft.com/office/drawing/2014/main" id="{D3786DDC-2A31-4AC0-AE08-141BD79D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3A120-8562-468B-8AD4-C11537AC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859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c1</a:t>
            </a:r>
          </a:p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4" name="cam2-ccd1">
            <a:extLst xmlns:a="http://schemas.openxmlformats.org/drawingml/2006/main">
              <a:ext uri="{FF2B5EF4-FFF2-40B4-BE49-F238E27FC236}">
                <a16:creationId xmlns:a16="http://schemas.microsoft.com/office/drawing/2014/main" id="{1066E6D7-7E20-4C34-82E8-DA5F0100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CC079-30A1-44DE-A225-52F7262C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908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c2</a:t>
            </a:r>
          </a:p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cam2-ccd2">
            <a:extLst xmlns:a="http://schemas.openxmlformats.org/drawingml/2006/main">
              <a:ext uri="{FF2B5EF4-FFF2-40B4-BE49-F238E27FC236}">
                <a16:creationId xmlns:a16="http://schemas.microsoft.com/office/drawing/2014/main" id="{D5C14918-115A-49E8-8A42-BAA3DB37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051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C6428-C88B-408D-B4C7-82190A8B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908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c2</a:t>
            </a:r>
          </a:p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cam2-ccd3">
            <a:extLst xmlns:a="http://schemas.openxmlformats.org/drawingml/2006/main">
              <a:ext uri="{FF2B5EF4-FFF2-40B4-BE49-F238E27FC236}">
                <a16:creationId xmlns:a16="http://schemas.microsoft.com/office/drawing/2014/main" id="{6472EE50-7BFC-4D0A-8F24-546EF5FE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051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716478-DF49-474B-88BF-7A0BCC6B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908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c2</a:t>
            </a:r>
          </a:p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cam2-ccd4">
            <a:extLst xmlns:a="http://schemas.openxmlformats.org/drawingml/2006/main">
              <a:ext uri="{FF2B5EF4-FFF2-40B4-BE49-F238E27FC236}">
                <a16:creationId xmlns:a16="http://schemas.microsoft.com/office/drawing/2014/main" id="{E9FB2D92-9D40-4B88-BAE6-90D3720D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051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55FEC-4D2F-4280-8BD8-6FCC666E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908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c2</a:t>
            </a:r>
          </a:p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cam3-ccd1">
            <a:extLst xmlns:a="http://schemas.openxmlformats.org/drawingml/2006/main">
              <a:ext uri="{FF2B5EF4-FFF2-40B4-BE49-F238E27FC236}">
                <a16:creationId xmlns:a16="http://schemas.microsoft.com/office/drawing/2014/main" id="{AE231979-F03C-49F3-90B5-73ACEE12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88073-0F32-46FE-B4FD-38A71E97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c3</a:t>
            </a:r>
          </a:p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4" name="cam3-ccd2">
            <a:extLst xmlns:a="http://schemas.openxmlformats.org/drawingml/2006/main">
              <a:ext uri="{FF2B5EF4-FFF2-40B4-BE49-F238E27FC236}">
                <a16:creationId xmlns:a16="http://schemas.microsoft.com/office/drawing/2014/main" id="{71A9F0E5-D62F-4232-83D1-D40A0771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099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5CCB20-3244-404D-B870-EBA3FC0B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956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c3</a:t>
            </a:r>
          </a:p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6" name="cam3-ccd3">
            <a:extLst xmlns:a="http://schemas.openxmlformats.org/drawingml/2006/main">
              <a:ext uri="{FF2B5EF4-FFF2-40B4-BE49-F238E27FC236}">
                <a16:creationId xmlns:a16="http://schemas.microsoft.com/office/drawing/2014/main" id="{C8788682-EBD1-4856-8D42-1A2C79CD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099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41C978-4DCC-4C9F-AFDE-E518759F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956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c3</a:t>
            </a:r>
          </a:p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8" name="cam3-ccd4">
            <a:extLst xmlns:a="http://schemas.openxmlformats.org/drawingml/2006/main">
              <a:ext uri="{FF2B5EF4-FFF2-40B4-BE49-F238E27FC236}">
                <a16:creationId xmlns:a16="http://schemas.microsoft.com/office/drawing/2014/main" id="{174F9276-5B0F-48AC-A36B-837054DC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099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9E3BCF-6A5F-4351-B716-0D18788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956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c3</a:t>
            </a:r>
          </a:p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cam4-ccd1">
            <a:extLst xmlns:a="http://schemas.openxmlformats.org/drawingml/2006/main">
              <a:ext uri="{FF2B5EF4-FFF2-40B4-BE49-F238E27FC236}">
                <a16:creationId xmlns:a16="http://schemas.microsoft.com/office/drawing/2014/main" id="{C0EFB4DC-E822-410F-9F9E-70EF28BC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B4"/>
          </a:solidFill>
          <a:ln xmlns:a="http://schemas.openxmlformats.org/drawingml/2006/main" w="28575">
            <a:solidFill>
              <a:srgbClr val="D6A2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31BC8D-A9C9-40F2-B1C5-16A52671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c4</a:t>
            </a:r>
          </a:p>
          <a:p xmlns:a="http://schemas.openxmlformats.org/drawingml/2006/main">
            <a:pPr algn="ctr">
              <a:defRPr sz="1125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2" name="cam4-ccd2">
            <a:extLst xmlns:a="http://schemas.openxmlformats.org/drawingml/2006/main">
              <a:ext uri="{FF2B5EF4-FFF2-40B4-BE49-F238E27FC236}">
                <a16:creationId xmlns:a16="http://schemas.microsoft.com/office/drawing/2014/main" id="{C08E0B8C-B5AC-41C9-B43D-CE07E296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1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322F12-4186-4E24-B616-A705FC44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c4</a:t>
            </a:r>
          </a:p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4" name="cam4-ccd3">
            <a:extLst xmlns:a="http://schemas.openxmlformats.org/drawingml/2006/main">
              <a:ext uri="{FF2B5EF4-FFF2-40B4-BE49-F238E27FC236}">
                <a16:creationId xmlns:a16="http://schemas.microsoft.com/office/drawing/2014/main" id="{D88C3F27-FECC-4E54-A015-8CB74D1F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1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FFC8A9-08E8-4284-AF17-961AD284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c4</a:t>
            </a:r>
          </a:p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cam4-ccd4">
            <a:extLst xmlns:a="http://schemas.openxmlformats.org/drawingml/2006/main">
              <a:ext uri="{FF2B5EF4-FFF2-40B4-BE49-F238E27FC236}">
                <a16:creationId xmlns:a16="http://schemas.microsoft.com/office/drawing/2014/main" id="{0731C689-32D6-4363-B50F-B8DF3299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1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BB16E0-CD34-4AFA-AA07-B941BDF8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c4</a:t>
            </a:r>
          </a:p>
          <a:p xmlns:a="http://schemas.openxmlformats.org/drawingml/2006/main">
            <a:pPr algn="ctr">
              <a:defRPr sz="1125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BB7FC2-1895-4E58-B89E-C40D97B9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All 16 CCDs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2D324F-A892-4FD9-B52D-1B246402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23825A-403B-4BC5-AC38-58A8F7CC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7645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rPr>
              <a:t>19,068 / 19,086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2607E7-191B-4159-8D68-A529B2B7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5745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S56 GPU-production HLSP FITS written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FBFAB9-DC47-45E0-B624-5CC906AB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621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4D3E30-98EA-4415-BCA0-8089625B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7645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6A23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D6A23A"/>
                </a:solidFill>
                <a:latin typeface="Aptos Display"/>
                <a:ea typeface="Aptos Display"/>
                <a:cs typeface="Aptos Display"/>
              </a:rPr>
              <a:t>4 / 19086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0A0875-075D-4C5D-8BC9-1C496715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5745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validation issues in new tree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650DFF-BD94-48C0-B411-712B9F1E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623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71E43B-813C-4A2C-BFB1-AB0127F7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7660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5C3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85C38"/>
                </a:solidFill>
                <a:latin typeface="Aptos Display"/>
                <a:ea typeface="Aptos Display"/>
                <a:cs typeface="Aptos Display"/>
              </a:rPr>
              <a:t>orbits 119 + 120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607ABF-40CF-469E-B860-D621BC73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5760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fixed WD 1856 benchmark sector geometry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1B07A9-33AE-4D2C-9D72-90E69D6A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623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4D8A0C-ED11-41EB-9E32-293D8304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B6EA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B6EA8"/>
                </a:solidFill>
                <a:latin typeface="Aptos Display"/>
                <a:ea typeface="Aptos Display"/>
                <a:cs typeface="Aptos Display"/>
              </a:rPr>
              <a:t>cam4 / ccd1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4F2D7B-FC9B-48F9-88B1-0E80EFC4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5760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WD 1856 detector location highlighted at left</a:t>
            </a:r>
          </a:p>
        </p:txBody>
      </p:sp>
      <p:sp>
        <p:nvSpPr>
          <p:cNvPr id="51" name="s56-caveat">
            <a:extLst xmlns:a="http://schemas.openxmlformats.org/drawingml/2006/main">
              <a:ext uri="{FF2B5EF4-FFF2-40B4-BE49-F238E27FC236}">
                <a16:creationId xmlns:a16="http://schemas.microsoft.com/office/drawing/2014/main" id="{C2D8E0C0-E62C-41C5-9C90-0A0AE279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9105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19050">
            <a:solidFill>
              <a:srgbClr val="B85C3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044E41-8CFF-453B-83C2-1C48F8BA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52975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322F"/>
                </a:solidFill>
                <a:latin typeface="Aptos"/>
                <a:ea typeface="Aptos"/>
                <a:cs typeface="Aptos"/>
              </a:rPr>
              <a:t>Why this slice works: it is fully processed, cadence-aligned, and contains the mandatory ground truth. Why it is not enough: one sector cannot establish completeness or a denominator.</a:t>
            </a:r>
          </a:p>
        </p:txBody>
      </p:sp>
      <p:sp>
        <p:nvSpPr>
          <p:cNvPr id="5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E195DBC-9653-4882-9B8F-4148D491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3AEDEE5-9E32-4BE0-83C8-2731E1EE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Source: doc/twirl_plan.md current status snapshot.</a:t>
            </a:r>
          </a:p>
        </p:txBody>
      </p:sp>
      <p:sp>
        <p:nvSpPr>
          <p:cNvPr id="5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A710544-DC4B-4134-BF10-9E64F229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850924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0D7D354-1F78-4FD2-AB10-F4EE1985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B53EEC05-DC7A-4125-8002-88BFF77A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7F557788-26E2-4999-8DB7-A27EACA4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1B425C12-E48C-4831-829C-CCD01D15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PRODUCTION SCALING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B0A5D1E-232A-4DF5-9164-7212073C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rPr>
              <a:t>GPU ePSFs helped, but the production risk moved to orchestration and QA.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EDA77-542C-4F8A-8A92-8A4AF3C8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The ePSF stage went from a multi-hour CPU bottleneck to a GPU step, but full-sector production still depends on catalogs, cutouts, light curves, detrending, HLSP export, and QC.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03507-1C46-4448-9E50-0699BD42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771"/>
                </a:solidFill>
                <a:latin typeface="Aptos"/>
                <a:ea typeface="Aptos"/>
                <a:cs typeface="Aptos"/>
              </a:rPr>
              <a:t>CPU baseline</a:t>
            </a:r>
          </a:p>
        </p:txBody>
      </p:sp>
      <p:sp>
        <p:nvSpPr>
          <p:cNvPr id="8" name="cpu-bar">
            <a:extLst xmlns:a="http://schemas.openxmlformats.org/drawingml/2006/main">
              <a:ext uri="{FF2B5EF4-FFF2-40B4-BE49-F238E27FC236}">
                <a16:creationId xmlns:a16="http://schemas.microsoft.com/office/drawing/2014/main" id="{D125BBDD-112F-4309-BAB2-9CFA8A2F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0B90A-6E02-42BF-9B68-C6A64BCA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099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322F"/>
                </a:solidFill>
                <a:latin typeface="Aptos"/>
                <a:ea typeface="Aptos"/>
                <a:cs typeface="Aptos"/>
              </a:rPr>
              <a:t>4:01:31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CB38A-6A76-49A5-AF24-0E9E83C9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771"/>
                </a:solidFill>
                <a:latin typeface="Aptos"/>
                <a:ea typeface="Aptos"/>
                <a:cs typeface="Aptos"/>
              </a:rPr>
              <a:t>GPU path</a:t>
            </a:r>
          </a:p>
        </p:txBody>
      </p:sp>
      <p:sp>
        <p:nvSpPr>
          <p:cNvPr id="11" name="gpu-bar">
            <a:extLst xmlns:a="http://schemas.openxmlformats.org/drawingml/2006/main">
              <a:ext uri="{FF2B5EF4-FFF2-40B4-BE49-F238E27FC236}">
                <a16:creationId xmlns:a16="http://schemas.microsoft.com/office/drawing/2014/main" id="{1DA33457-3ED9-4150-ABDA-22744E0A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78704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BBF0E-DA76-4801-BEE2-C72E57AD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495" y="43624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322F"/>
                </a:solidFill>
                <a:latin typeface="Aptos"/>
                <a:ea typeface="Aptos"/>
                <a:cs typeface="Aptos"/>
              </a:rPr>
              <a:t>30:42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2BD44-8F2A-4C51-BFE3-71C138DE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384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2A2FC-A236-46DD-AB4D-A20BEE54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rPr>
              <a:t>7.9x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E50BB-7558-4A03-A3CB-B9467501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337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ePSF speedup on S56 cam4/ccd1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55A6E-08EA-4009-B10E-63B5CB46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195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76B79-A7BF-429D-86B3-E945FECB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338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A2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6A23A"/>
                </a:solidFill>
                <a:latin typeface="Aptos Display"/>
                <a:ea typeface="Aptos Display"/>
                <a:cs typeface="Aptos Display"/>
              </a:rPr>
              <a:t>QA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7D0F6-BE0E-4022-813B-63F544EA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148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per-sector PDFs and validation after HLSP</a:t>
            </a:r>
          </a:p>
        </p:txBody>
      </p:sp>
      <p:sp>
        <p:nvSpPr>
          <p:cNvPr id="19" name="production-takeaway">
            <a:extLst xmlns:a="http://schemas.openxmlformats.org/drawingml/2006/main">
              <a:ext uri="{FF2B5EF4-FFF2-40B4-BE49-F238E27FC236}">
                <a16:creationId xmlns:a16="http://schemas.microsoft.com/office/drawing/2014/main" id="{CB3EB763-C1C7-4EA3-AB39-428F7928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29250"/>
            <a:ext cx="969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19050">
            <a:solidFill>
              <a:srgbClr val="D6A2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56174E-35E3-40A9-835D-AE38E150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43550"/>
            <a:ext cx="923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322F"/>
                </a:solidFill>
                <a:latin typeface="Aptos"/>
                <a:ea typeface="Aptos"/>
                <a:cs typeface="Aptos"/>
              </a:rPr>
              <a:t>Talk framing: scale-out is credible only if the LC product and QA labels stay explicit sector by sector.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21F04BC-A778-4112-86B0-B4D965F0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4C799AE5-A65C-422F-9D0C-2E191DD7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Source: doc/twirl_progress_log.md 2026-04-27; doc/twirl_plan.md scale-out notes.</a:t>
            </a:r>
          </a:p>
        </p:txBody>
      </p:sp>
      <p:sp>
        <p:nvSpPr>
          <p:cNvPr id="2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F863694-5695-4B81-B450-E6235279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942739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5975A88-36AA-4C3D-AD8F-8A15FE21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D5AF880C-5CBD-4AAA-971A-F04F629E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54808AED-21EB-4F1A-98A9-443680C5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7775FCA9-E5C7-46D2-A803-2916BE0C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S56 SEARCH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84180074-6CB5-40F7-987E-4EE496C4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533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rPr>
              <a:t>WD 1856 survives blind ranking after WD-specific vetting.</a:t>
            </a:r>
          </a:p>
        </p:txBody>
      </p:sp>
      <p:sp>
        <p:nvSpPr>
          <p:cNvPr id="6" name="rank-funnel-0">
            <a:extLst xmlns:a="http://schemas.openxmlformats.org/drawingml/2006/main">
              <a:ext uri="{FF2B5EF4-FFF2-40B4-BE49-F238E27FC236}">
                <a16:creationId xmlns:a16="http://schemas.microsoft.com/office/drawing/2014/main" id="{7F0DBEC1-2A18-43B8-9EF4-AB65D77A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34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B6306-9658-496A-9C78-754BAAE1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2076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BLS v1 blind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27E97-3134-4919-89CE-9C353492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21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321"/>
                </a:solidFill>
                <a:latin typeface="Aptos Display"/>
                <a:ea typeface="Aptos Display"/>
                <a:cs typeface="Aptos Display"/>
              </a:rPr>
              <a:t>1258 / 19,040</a:t>
            </a:r>
          </a:p>
        </p:txBody>
      </p:sp>
      <p:sp>
        <p:nvSpPr>
          <p:cNvPr id="9" name="rank-funnel-1">
            <a:extLst xmlns:a="http://schemas.openxmlformats.org/drawingml/2006/main">
              <a:ext uri="{FF2B5EF4-FFF2-40B4-BE49-F238E27FC236}">
                <a16:creationId xmlns:a16="http://schemas.microsoft.com/office/drawing/2014/main" id="{0F3CCA30-6D23-4568-AB7F-4600E331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133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B4ED8-F049-438A-BC53-9DB712CD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1866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BLS v2 blind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865F7-8E08-4127-A7AF-02C19B3C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560 / 19,012</a:t>
            </a:r>
          </a:p>
        </p:txBody>
      </p:sp>
      <p:sp>
        <p:nvSpPr>
          <p:cNvPr id="12" name="rank-funnel-2">
            <a:extLst xmlns:a="http://schemas.openxmlformats.org/drawingml/2006/main">
              <a:ext uri="{FF2B5EF4-FFF2-40B4-BE49-F238E27FC236}">
                <a16:creationId xmlns:a16="http://schemas.microsoft.com/office/drawing/2014/main" id="{6456055E-58BC-4B5E-9A80-F7F8B69B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1924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29EFA-2918-4AE8-BC1B-4353C805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38550"/>
            <a:ext cx="1657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Heuristic class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FF309-E317-4224-AC7B-F7473848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90950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 / 3,188</a:t>
            </a:r>
          </a:p>
        </p:txBody>
      </p:sp>
      <p:sp>
        <p:nvSpPr>
          <p:cNvPr id="15" name="rank-funnel-3">
            <a:extLst xmlns:a="http://schemas.openxmlformats.org/drawingml/2006/main">
              <a:ext uri="{FF2B5EF4-FFF2-40B4-BE49-F238E27FC236}">
                <a16:creationId xmlns:a16="http://schemas.microsoft.com/office/drawing/2014/main" id="{7E171DAD-A301-48A8-9F00-8CBB7BCF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2C207-EFE1-422E-B078-AA763244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144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LEO-WD top 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36BEBE-0FFA-4A56-B2C0-1617C2A0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5295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PC, rank 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DF59B6-55E0-4C7A-8B0F-4889D2DB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383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45A16-1DB0-4967-AE07-DB60616B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6A23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6A23A"/>
                </a:solidFill>
                <a:latin typeface="Aptos Display"/>
                <a:ea typeface="Aptos Display"/>
                <a:cs typeface="Aptos Display"/>
              </a:rPr>
              <a:t>1.407955 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EB0A5E-85F5-4F68-A7DA-FA8E7EF0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336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BLS period for WD 1856 in S56 v2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4F6480-50A0-4C25-899A-7EBC6B40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242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96BFC8-CA57-459B-B418-1DAD4F6B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385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rPr>
              <a:t>6 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E2521-C2A1-4EFE-A298-6BC3952E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195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fitted duration in BLS candidate 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6851F9-7243-41D1-8011-8283D47A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100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8F4E0-64AF-4740-89C0-D820FD2B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243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B6EA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B6EA8"/>
                </a:solidFill>
                <a:latin typeface="Aptos Display"/>
                <a:ea typeface="Aptos Display"/>
                <a:cs typeface="Aptos Display"/>
              </a:rPr>
              <a:t>SDE 70.5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E26947-F80C-46F6-9E87-A78DA20B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053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representative BLS signal strength</a:t>
            </a:r>
          </a:p>
        </p:txBody>
      </p:sp>
      <p:sp>
        <p:nvSpPr>
          <p:cNvPr id="27" name="leo-frame">
            <a:extLst xmlns:a="http://schemas.openxmlformats.org/drawingml/2006/main">
              <a:ext uri="{FF2B5EF4-FFF2-40B4-BE49-F238E27FC236}">
                <a16:creationId xmlns:a16="http://schemas.microsoft.com/office/drawing/2014/main" id="{9B237132-DC83-4E3E-822D-93D80D15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14450"/>
            <a:ext cx="4667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ff6e807a441f8"/>
          <a:stretch xmlns:a="http://schemas.openxmlformats.org/drawingml/2006/main"/>
        </p:blipFill>
        <p:spPr>
          <a:xfrm xmlns:a="http://schemas.openxmlformats.org/drawingml/2006/main">
            <a:off x="6636073" y="1466850"/>
            <a:ext cx="3625205" cy="41148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81D191-CDA3-43A0-B847-11A44B86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76900"/>
            <a:ext cx="4333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LEO-WD classifies WD 1856 as PC in the top-50 S56 v2 run. The top-N FP mix is exactly where the group should intervene.</a:t>
            </a:r>
          </a:p>
        </p:txBody>
      </p:sp>
      <p:sp>
        <p:nvSpPr>
          <p:cNvPr id="3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0CEAC00-05F9-4F72-8111-9DDE9CD1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5F57FAF-2CDA-48D9-B7C9-E21C6AEC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Source: data_local/stage2/bls_first_pass_v2; reports/stage5_validation/leo_vetter_s56_top50_v2.</a:t>
            </a:r>
          </a:p>
        </p:txBody>
      </p:sp>
      <p:sp>
        <p:nvSpPr>
          <p:cNvPr id="3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92071F0-E573-4D00-845E-C39BB6DC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392743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978CC6B-B78B-4F4D-8226-EF37BCEC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DDB4D95E-DFE0-420C-A4C1-1FFFEEB4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2565731F-AEBF-4F8E-984F-0EC23FB8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E554A986-D70C-4F9A-A1E9-85739BD5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LIGHT-CURVE PRODUCT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BFF22A4-8134-4774-923A-C84C95AF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rPr>
              <a:t>Negative-flux clipping was a light-curve product risk.</a:t>
            </a:r>
          </a:p>
        </p:txBody>
      </p:sp>
      <p:sp>
        <p:nvSpPr>
          <p:cNvPr id="6" name="wd1856-frame">
            <a:extLst xmlns:a="http://schemas.openxmlformats.org/drawingml/2006/main">
              <a:ext uri="{FF2B5EF4-FFF2-40B4-BE49-F238E27FC236}">
                <a16:creationId xmlns:a16="http://schemas.microsoft.com/office/drawing/2014/main" id="{A1257811-6126-41C8-9E52-B806C630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69342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d75ae23ac4d31"/>
          <a:stretch xmlns:a="http://schemas.openxmlformats.org/drawingml/2006/main"/>
        </p:blipFill>
        <p:spPr>
          <a:xfrm xmlns:a="http://schemas.openxmlformats.org/drawingml/2006/main">
            <a:off x="1376179" y="1581150"/>
            <a:ext cx="5743942" cy="36385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CC192-5C20-4A3A-AE88-F509D7D2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19421-EBD6-46F7-9E0F-47A8A660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7165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rPr>
              <a:t>+155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CF46B-3F33-4876-A086-4F4C7EC4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5265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previously lost negative SAP cadences preserved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C231C-A2B5-4502-8F36-198C764A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A4999-5BE8-4763-B220-312C55A3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6A2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6A23A"/>
                </a:solidFill>
                <a:latin typeface="Aptos Display"/>
                <a:ea typeface="Aptos Display"/>
                <a:cs typeface="Aptos Display"/>
              </a:rPr>
              <a:t>+6.3%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021A2-469D-47A5-9B05-874A55B9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3850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usable q=0 cadence count for WD 1856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F6245-C176-4F41-A209-8035D1EB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AF4DC-7869-47A1-B146-C4B8FAC4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B6EA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B6EA8"/>
                </a:solidFill>
                <a:latin typeface="Aptos Display"/>
                <a:ea typeface="Aptos Display"/>
                <a:cs typeface="Aptos Display"/>
              </a:rPr>
              <a:t>same shape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7443B-C95F-4C4B-844D-9930F896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2435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phase-folded transit remains intact</a:t>
            </a:r>
          </a:p>
        </p:txBody>
      </p:sp>
      <p:sp>
        <p:nvSpPr>
          <p:cNvPr id="17" name="patch-summary">
            <a:extLst xmlns:a="http://schemas.openxmlformats.org/drawingml/2006/main">
              <a:ext uri="{FF2B5EF4-FFF2-40B4-BE49-F238E27FC236}">
                <a16:creationId xmlns:a16="http://schemas.microsoft.com/office/drawing/2014/main" id="{8483F287-4605-4241-973E-1630C9F8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988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19050">
            <a:solidFill>
              <a:srgbClr val="B85C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B7FCE-8704-4DAD-B407-91480501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322F"/>
                </a:solidFill>
                <a:latin typeface="Aptos"/>
                <a:ea typeface="Aptos"/>
                <a:cs typeface="Aptos"/>
              </a:rPr>
              <a:t>Patch logic: keep linear RawFlux / RawFluxError through TGLC, then detrend in flux space instead of relying on magnitude-space products that clipped flux &lt;= 0.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C2D43D1-055D-4800-BEF4-800E3A98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63403AE-7518-45C6-9647-2074BC10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Source: data_local/stage2/wd1856_v3_sanity; doc/twirl_progress_log.md 2026-05-13.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4531678-2880-4E41-9A5E-2FE52FA5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2561371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E636138-AC1C-4696-A8B1-016F6F4B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57FAFB4A-434B-4775-8AE2-D6D1F3F9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CE14D1A6-7CCB-4A28-BC0B-08490376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63EE62E3-0803-43BE-842E-2F566373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DETRENDING EXPERIMENT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1341B7F-C3B5-422B-988A-1FEFAC45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rPr>
              <a:t>Robust-auto subtractive scaling is the current faint-end candidate.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45EEB-38D1-44CF-A095-8C1854B3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Production candidate: DET = 1 + (flux - spline) / positive_scale, where positive_scale falls back to a robust absolute-flux scale near zero median flux.</a:t>
            </a:r>
          </a:p>
        </p:txBody>
      </p:sp>
      <p:sp>
        <p:nvSpPr>
          <p:cNvPr id="7" name="table-head-0">
            <a:extLst xmlns:a="http://schemas.openxmlformats.org/drawingml/2006/main">
              <a:ext uri="{FF2B5EF4-FFF2-40B4-BE49-F238E27FC236}">
                <a16:creationId xmlns:a16="http://schemas.microsoft.com/office/drawing/2014/main" id="{867EB0FB-2B8C-4C75-9F38-C3D5427D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1"/>
          </a:solidFill>
          <a:ln xmlns:a="http://schemas.openxmlformats.org/drawingml/2006/main" w="9525">
            <a:solidFill>
              <a:srgbClr val="1723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FD78F-0DDD-4C52-8C2A-90BC20AF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5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5EE"/>
                </a:solidFill>
                <a:latin typeface="Aptos"/>
                <a:ea typeface="Aptos"/>
                <a:cs typeface="Aptos"/>
              </a:rPr>
              <a:t>variant</a:t>
            </a:r>
          </a:p>
        </p:txBody>
      </p:sp>
      <p:sp>
        <p:nvSpPr>
          <p:cNvPr id="9" name="table-head-1">
            <a:extLst xmlns:a="http://schemas.openxmlformats.org/drawingml/2006/main">
              <a:ext uri="{FF2B5EF4-FFF2-40B4-BE49-F238E27FC236}">
                <a16:creationId xmlns:a16="http://schemas.microsoft.com/office/drawing/2014/main" id="{1FA85F72-E6A5-4117-8DA8-C24B6A54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241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1"/>
          </a:solidFill>
          <a:ln xmlns:a="http://schemas.openxmlformats.org/drawingml/2006/main" w="9525">
            <a:solidFill>
              <a:srgbClr val="17232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9C30F-4224-4982-AD5E-27853741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288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5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5EE"/>
                </a:solidFill>
                <a:latin typeface="Aptos"/>
                <a:ea typeface="Aptos"/>
                <a:cs typeface="Aptos"/>
              </a:rPr>
              <a:t>real RMS</a:t>
            </a:r>
          </a:p>
        </p:txBody>
      </p:sp>
      <p:sp>
        <p:nvSpPr>
          <p:cNvPr id="11" name="table-head-2">
            <a:extLst xmlns:a="http://schemas.openxmlformats.org/drawingml/2006/main">
              <a:ext uri="{FF2B5EF4-FFF2-40B4-BE49-F238E27FC236}">
                <a16:creationId xmlns:a16="http://schemas.microsoft.com/office/drawing/2014/main" id="{DFC4F944-59DA-4B18-B58D-9451D405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241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1"/>
          </a:solidFill>
          <a:ln xmlns:a="http://schemas.openxmlformats.org/drawingml/2006/main" w="9525">
            <a:solidFill>
              <a:srgbClr val="17232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08B63-C4C9-4650-926D-AD742643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5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5EE"/>
                </a:solidFill>
                <a:latin typeface="Aptos"/>
                <a:ea typeface="Aptos"/>
                <a:cs typeface="Aptos"/>
              </a:rPr>
              <a:t>depth retention</a:t>
            </a:r>
          </a:p>
        </p:txBody>
      </p:sp>
      <p:sp>
        <p:nvSpPr>
          <p:cNvPr id="13" name="table-head-3">
            <a:extLst xmlns:a="http://schemas.openxmlformats.org/drawingml/2006/main">
              <a:ext uri="{FF2B5EF4-FFF2-40B4-BE49-F238E27FC236}">
                <a16:creationId xmlns:a16="http://schemas.microsoft.com/office/drawing/2014/main" id="{F7A62DD2-CE20-44AA-88C1-9EC546B1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1"/>
          </a:solidFill>
          <a:ln xmlns:a="http://schemas.openxmlformats.org/drawingml/2006/main" w="9525">
            <a:solidFill>
              <a:srgbClr val="17232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1D112-CC4A-4184-B076-923208F2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5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5EE"/>
                </a:solidFill>
                <a:latin typeface="Aptos"/>
                <a:ea typeface="Aptos"/>
                <a:cs typeface="Aptos"/>
              </a:rPr>
              <a:t>synthetic failures</a:t>
            </a:r>
          </a:p>
        </p:txBody>
      </p:sp>
      <p:sp>
        <p:nvSpPr>
          <p:cNvPr id="15" name="table-head-4">
            <a:extLst xmlns:a="http://schemas.openxmlformats.org/drawingml/2006/main">
              <a:ext uri="{FF2B5EF4-FFF2-40B4-BE49-F238E27FC236}">
                <a16:creationId xmlns:a16="http://schemas.microsoft.com/office/drawing/2014/main" id="{6A2B171A-218B-4E38-8EDF-AE89C8D6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1"/>
          </a:solidFill>
          <a:ln xmlns:a="http://schemas.openxmlformats.org/drawingml/2006/main" w="9525">
            <a:solidFill>
              <a:srgbClr val="17232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73110-B38A-4BF7-BEEB-C268E426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288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5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5EE"/>
                </a:solidFill>
                <a:latin typeface="Aptos"/>
                <a:ea typeface="Aptos"/>
                <a:cs typeface="Aptos"/>
              </a:rPr>
              <a:t>negative q0 kept</a:t>
            </a:r>
          </a:p>
        </p:txBody>
      </p:sp>
      <p:sp>
        <p:nvSpPr>
          <p:cNvPr id="17" name="table-0-0">
            <a:extLst xmlns:a="http://schemas.openxmlformats.org/drawingml/2006/main">
              <a:ext uri="{FF2B5EF4-FFF2-40B4-BE49-F238E27FC236}">
                <a16:creationId xmlns:a16="http://schemas.microsoft.com/office/drawing/2014/main" id="{E3C9E32A-76DA-45E0-A4A5-67BA56D8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9525">
            <a:solidFill>
              <a:srgbClr val="F7F5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A816C-35BC-494C-9EFE-53C4A566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divisive</a:t>
            </a:r>
          </a:p>
        </p:txBody>
      </p:sp>
      <p:sp>
        <p:nvSpPr>
          <p:cNvPr id="19" name="table-0-1">
            <a:extLst xmlns:a="http://schemas.openxmlformats.org/drawingml/2006/main">
              <a:ext uri="{FF2B5EF4-FFF2-40B4-BE49-F238E27FC236}">
                <a16:creationId xmlns:a16="http://schemas.microsoft.com/office/drawing/2014/main" id="{E78B3CA8-82F7-44A6-A459-CCDC822B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9525">
            <a:solidFill>
              <a:srgbClr val="F7F5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B883A2-E88A-40DE-AD70-9731969E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9.07</a:t>
            </a:r>
          </a:p>
        </p:txBody>
      </p:sp>
      <p:sp>
        <p:nvSpPr>
          <p:cNvPr id="21" name="table-0-2">
            <a:extLst xmlns:a="http://schemas.openxmlformats.org/drawingml/2006/main">
              <a:ext uri="{FF2B5EF4-FFF2-40B4-BE49-F238E27FC236}">
                <a16:creationId xmlns:a16="http://schemas.microsoft.com/office/drawing/2014/main" id="{88D2F6D1-E76D-487A-8329-18EF34CE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241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9525">
            <a:solidFill>
              <a:srgbClr val="F7F5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187B27-9A8F-4974-8D13-283313D0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-0.86</a:t>
            </a:r>
          </a:p>
        </p:txBody>
      </p:sp>
      <p:sp>
        <p:nvSpPr>
          <p:cNvPr id="23" name="table-0-3">
            <a:extLst xmlns:a="http://schemas.openxmlformats.org/drawingml/2006/main">
              <a:ext uri="{FF2B5EF4-FFF2-40B4-BE49-F238E27FC236}">
                <a16:creationId xmlns:a16="http://schemas.microsoft.com/office/drawing/2014/main" id="{E2AEB3F8-FD25-4B0F-8F62-F8EF3043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9525">
            <a:solidFill>
              <a:srgbClr val="F7F5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A17A63-E601-44BD-A959-E85D09E1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956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3 / 8</a:t>
            </a:r>
          </a:p>
        </p:txBody>
      </p:sp>
      <p:sp>
        <p:nvSpPr>
          <p:cNvPr id="25" name="table-0-4">
            <a:extLst xmlns:a="http://schemas.openxmlformats.org/drawingml/2006/main">
              <a:ext uri="{FF2B5EF4-FFF2-40B4-BE49-F238E27FC236}">
                <a16:creationId xmlns:a16="http://schemas.microsoft.com/office/drawing/2014/main" id="{73051ABA-2C2F-412A-B704-02D52134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9525">
            <a:solidFill>
              <a:srgbClr val="F7F5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B09BFC-8F4F-4481-B1F9-D9DA45F4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41,839 / 41,839</a:t>
            </a:r>
          </a:p>
        </p:txBody>
      </p:sp>
      <p:sp>
        <p:nvSpPr>
          <p:cNvPr id="27" name="table-1-0">
            <a:extLst xmlns:a="http://schemas.openxmlformats.org/drawingml/2006/main">
              <a:ext uri="{FF2B5EF4-FFF2-40B4-BE49-F238E27FC236}">
                <a16:creationId xmlns:a16="http://schemas.microsoft.com/office/drawing/2014/main" id="{1B27A9AA-4BB0-4A42-B542-E1AE1820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9525">
            <a:solidFill>
              <a:srgbClr val="F7F5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BDA421-4798-477A-A4C8-94959430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sub_median</a:t>
            </a:r>
          </a:p>
        </p:txBody>
      </p:sp>
      <p:sp>
        <p:nvSpPr>
          <p:cNvPr id="29" name="table-1-1">
            <a:extLst xmlns:a="http://schemas.openxmlformats.org/drawingml/2006/main">
              <a:ext uri="{FF2B5EF4-FFF2-40B4-BE49-F238E27FC236}">
                <a16:creationId xmlns:a16="http://schemas.microsoft.com/office/drawing/2014/main" id="{F7E134DC-2783-499D-B682-13838DEE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766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9525">
            <a:solidFill>
              <a:srgbClr val="F7F5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6C7ABF-ED81-4987-94D8-6EB1D8B4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480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0.223</a:t>
            </a:r>
          </a:p>
        </p:txBody>
      </p:sp>
      <p:sp>
        <p:nvSpPr>
          <p:cNvPr id="31" name="table-1-2">
            <a:extLst xmlns:a="http://schemas.openxmlformats.org/drawingml/2006/main">
              <a:ext uri="{FF2B5EF4-FFF2-40B4-BE49-F238E27FC236}">
                <a16:creationId xmlns:a16="http://schemas.microsoft.com/office/drawing/2014/main" id="{13369A66-5DB6-4E4A-94A9-B2DC340B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766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9525">
            <a:solidFill>
              <a:srgbClr val="F7F5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E8BDF6-019A-41D1-BDB1-1F6635EF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480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-1.41</a:t>
            </a:r>
          </a:p>
        </p:txBody>
      </p:sp>
      <p:sp>
        <p:nvSpPr>
          <p:cNvPr id="33" name="table-1-3">
            <a:extLst xmlns:a="http://schemas.openxmlformats.org/drawingml/2006/main">
              <a:ext uri="{FF2B5EF4-FFF2-40B4-BE49-F238E27FC236}">
                <a16:creationId xmlns:a16="http://schemas.microsoft.com/office/drawing/2014/main" id="{6048C93E-9FA5-4966-BF7F-A2B33234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9525">
            <a:solidFill>
              <a:srgbClr val="F7F5E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A2E2C5-353A-4573-9BC0-3041EF79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480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3 / 8</a:t>
            </a:r>
          </a:p>
        </p:txBody>
      </p:sp>
      <p:sp>
        <p:nvSpPr>
          <p:cNvPr id="35" name="table-1-4">
            <a:extLst xmlns:a="http://schemas.openxmlformats.org/drawingml/2006/main">
              <a:ext uri="{FF2B5EF4-FFF2-40B4-BE49-F238E27FC236}">
                <a16:creationId xmlns:a16="http://schemas.microsoft.com/office/drawing/2014/main" id="{25FAF0ED-D69D-47EB-A735-DF340AFA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9525">
            <a:solidFill>
              <a:srgbClr val="F7F5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160237-1023-400A-9389-49270498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480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41,839 / 41,839</a:t>
            </a:r>
          </a:p>
        </p:txBody>
      </p:sp>
      <p:sp>
        <p:nvSpPr>
          <p:cNvPr id="37" name="table-2-0">
            <a:extLst xmlns:a="http://schemas.openxmlformats.org/drawingml/2006/main">
              <a:ext uri="{FF2B5EF4-FFF2-40B4-BE49-F238E27FC236}">
                <a16:creationId xmlns:a16="http://schemas.microsoft.com/office/drawing/2014/main" id="{CFCB015F-B4A4-4B23-80E6-126DEEAC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9525">
            <a:solidFill>
              <a:srgbClr val="F7F5E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4A765D-477C-44A3-A1D6-570FD180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sub_median_abs</a:t>
            </a:r>
          </a:p>
        </p:txBody>
      </p:sp>
      <p:sp>
        <p:nvSpPr>
          <p:cNvPr id="39" name="table-2-1">
            <a:extLst xmlns:a="http://schemas.openxmlformats.org/drawingml/2006/main">
              <a:ext uri="{FF2B5EF4-FFF2-40B4-BE49-F238E27FC236}">
                <a16:creationId xmlns:a16="http://schemas.microsoft.com/office/drawing/2014/main" id="{4A668778-7C6C-4768-B4A3-50DF8FF2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290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9525">
            <a:solidFill>
              <a:srgbClr val="F7F5E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EBC78B-2047-4E8E-807F-37CBF479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0.223</a:t>
            </a:r>
          </a:p>
        </p:txBody>
      </p:sp>
      <p:sp>
        <p:nvSpPr>
          <p:cNvPr id="41" name="table-2-2">
            <a:extLst xmlns:a="http://schemas.openxmlformats.org/drawingml/2006/main">
              <a:ext uri="{FF2B5EF4-FFF2-40B4-BE49-F238E27FC236}">
                <a16:creationId xmlns:a16="http://schemas.microsoft.com/office/drawing/2014/main" id="{4B44899C-7543-4078-8845-709B6D0D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9525">
            <a:solidFill>
              <a:srgbClr val="F7F5E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2FCF56-6ECC-4805-8677-48E0FC05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1.41</a:t>
            </a:r>
          </a:p>
        </p:txBody>
      </p:sp>
      <p:sp>
        <p:nvSpPr>
          <p:cNvPr id="43" name="table-2-3">
            <a:extLst xmlns:a="http://schemas.openxmlformats.org/drawingml/2006/main">
              <a:ext uri="{FF2B5EF4-FFF2-40B4-BE49-F238E27FC236}">
                <a16:creationId xmlns:a16="http://schemas.microsoft.com/office/drawing/2014/main" id="{E49776FB-6DC9-482D-99A7-34579252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9525">
            <a:solidFill>
              <a:srgbClr val="F7F5E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B9FBF1-5D5F-4C75-A20E-6ED8832F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3 / 8</a:t>
            </a:r>
          </a:p>
        </p:txBody>
      </p:sp>
      <p:sp>
        <p:nvSpPr>
          <p:cNvPr id="45" name="table-2-4">
            <a:extLst xmlns:a="http://schemas.openxmlformats.org/drawingml/2006/main">
              <a:ext uri="{FF2B5EF4-FFF2-40B4-BE49-F238E27FC236}">
                <a16:creationId xmlns:a16="http://schemas.microsoft.com/office/drawing/2014/main" id="{6C63977E-9B0F-40B2-AA63-94320E11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9525">
            <a:solidFill>
              <a:srgbClr val="F7F5E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FE5398-4DCA-4797-9325-564626F4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321"/>
                </a:solidFill>
                <a:latin typeface="Aptos"/>
                <a:ea typeface="Aptos"/>
                <a:cs typeface="Aptos"/>
              </a:rPr>
              <a:t>41,839 / 41,839</a:t>
            </a:r>
          </a:p>
        </p:txBody>
      </p:sp>
      <p:sp>
        <p:nvSpPr>
          <p:cNvPr id="47" name="table-3-0">
            <a:extLst xmlns:a="http://schemas.openxmlformats.org/drawingml/2006/main">
              <a:ext uri="{FF2B5EF4-FFF2-40B4-BE49-F238E27FC236}">
                <a16:creationId xmlns:a16="http://schemas.microsoft.com/office/drawing/2014/main" id="{1F4C1DF1-66B8-4CB9-9DDB-D8576397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D5"/>
          </a:solidFill>
          <a:ln xmlns:a="http://schemas.openxmlformats.org/drawingml/2006/main" w="9525">
            <a:solidFill>
              <a:srgbClr val="F7F5E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1FD418-E5E2-4E3C-9082-150B02B1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sub_auto</a:t>
            </a:r>
          </a:p>
        </p:txBody>
      </p:sp>
      <p:sp>
        <p:nvSpPr>
          <p:cNvPr id="49" name="table-3-1">
            <a:extLst xmlns:a="http://schemas.openxmlformats.org/drawingml/2006/main">
              <a:ext uri="{FF2B5EF4-FFF2-40B4-BE49-F238E27FC236}">
                <a16:creationId xmlns:a16="http://schemas.microsoft.com/office/drawing/2014/main" id="{EA1B4716-A60E-487E-970B-CFC6AA86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815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D5"/>
          </a:solidFill>
          <a:ln xmlns:a="http://schemas.openxmlformats.org/drawingml/2006/main" w="9525">
            <a:solidFill>
              <a:srgbClr val="F7F5E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4E5B1B9-C34A-4567-A7F1-ABEE328A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0.135</a:t>
            </a:r>
          </a:p>
        </p:txBody>
      </p:sp>
      <p:sp>
        <p:nvSpPr>
          <p:cNvPr id="51" name="table-3-2">
            <a:extLst xmlns:a="http://schemas.openxmlformats.org/drawingml/2006/main">
              <a:ext uri="{FF2B5EF4-FFF2-40B4-BE49-F238E27FC236}">
                <a16:creationId xmlns:a16="http://schemas.microsoft.com/office/drawing/2014/main" id="{E76729A8-481B-4DE5-9C4F-FA280F9F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815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D5"/>
          </a:solidFill>
          <a:ln xmlns:a="http://schemas.openxmlformats.org/drawingml/2006/main" w="9525">
            <a:solidFill>
              <a:srgbClr val="F7F5E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924511A-F9CE-4AD7-97F4-F07BF3A3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529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0.98</a:t>
            </a:r>
          </a:p>
        </p:txBody>
      </p:sp>
      <p:sp>
        <p:nvSpPr>
          <p:cNvPr id="53" name="table-3-3">
            <a:extLst xmlns:a="http://schemas.openxmlformats.org/drawingml/2006/main">
              <a:ext uri="{FF2B5EF4-FFF2-40B4-BE49-F238E27FC236}">
                <a16:creationId xmlns:a16="http://schemas.microsoft.com/office/drawing/2014/main" id="{2D9C6EF8-98EF-4C24-8445-2E96626D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815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D5"/>
          </a:solidFill>
          <a:ln xmlns:a="http://schemas.openxmlformats.org/drawingml/2006/main" w="9525">
            <a:solidFill>
              <a:srgbClr val="F7F5E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0A1495-D95C-413C-9D1F-0FDF3D7C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529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0 / 8</a:t>
            </a:r>
          </a:p>
        </p:txBody>
      </p:sp>
      <p:sp>
        <p:nvSpPr>
          <p:cNvPr id="55" name="table-3-4">
            <a:extLst xmlns:a="http://schemas.openxmlformats.org/drawingml/2006/main">
              <a:ext uri="{FF2B5EF4-FFF2-40B4-BE49-F238E27FC236}">
                <a16:creationId xmlns:a16="http://schemas.microsoft.com/office/drawing/2014/main" id="{32C2EA85-591F-488E-87DF-293E621F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D5"/>
          </a:solidFill>
          <a:ln xmlns:a="http://schemas.openxmlformats.org/drawingml/2006/main" w="9525">
            <a:solidFill>
              <a:srgbClr val="F7F5E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59EAFA-5D3A-43FD-9CF2-0F688760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52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41,839 / 41,839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D94C7C4-2666-4A92-B783-DD01C172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2914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7AFE730-B4E6-45A2-B09B-AF9E4477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B6EA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3B6EA8"/>
                </a:solidFill>
                <a:latin typeface="Aptos Display"/>
                <a:ea typeface="Aptos Display"/>
                <a:cs typeface="Aptos Display"/>
              </a:rPr>
              <a:t>11 real cases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FA6A833-20C1-4487-8F76-DFA1C523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007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T=18.5+ S56 sample plus WD 1856 control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C9D730B-9367-4764-A24F-DEA0043D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05400"/>
            <a:ext cx="2914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E6A5DA-45B5-4F2F-BC03-C7D6C70E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2197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rPr>
              <a:t>10-min injection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930F8DC-4442-4D78-AE51-6672D766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6007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median retention 0.98 for sub_auto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D5704A6-A319-4265-A67C-619A0984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05400"/>
            <a:ext cx="2914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FF31EA-4BFC-41F6-8C39-8DEA1F23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197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85C3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B85C38"/>
                </a:solidFill>
                <a:latin typeface="Aptos Display"/>
                <a:ea typeface="Aptos Display"/>
                <a:cs typeface="Aptos Display"/>
              </a:rPr>
              <a:t>next gate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50A518-412C-432A-8BCC-C8218CC6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6007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larger random faint sample before relabeling product</a:t>
            </a:r>
          </a:p>
        </p:txBody>
      </p:sp>
      <p:sp>
        <p:nvSpPr>
          <p:cNvPr id="6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5FC676A-0AAC-45F8-A254-D5E6F783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777E8A0-D7D9-4FEC-A01E-3FD3CC3F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Source: reports/stage1_lightcurves/detrend_experiments/*/summary.md.</a:t>
            </a:r>
          </a:p>
        </p:txBody>
      </p:sp>
      <p:sp>
        <p:nvSpPr>
          <p:cNvPr id="6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CB27206-04C9-41D2-AF6A-2A4AB41D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094650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2EC6F40-0E50-4865-A890-CFEAD729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6709FC1D-D9ED-45AD-9CD0-CBF91EB5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CD4567D3-4352-4A61-B2BC-CCB439EB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C14540E6-60FD-4E3C-88D6-FC7999A1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D096F3C-E4BE-4C1B-B3E3-6C37B7FA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rPr>
              <a:t>S56 produced testable decisions, not a survey-wide occurrence result.</a:t>
            </a:r>
          </a:p>
        </p:txBody>
      </p:sp>
      <p:sp>
        <p:nvSpPr>
          <p:cNvPr id="6" name="credible-now">
            <a:extLst xmlns:a="http://schemas.openxmlformats.org/drawingml/2006/main">
              <a:ext uri="{FF2B5EF4-FFF2-40B4-BE49-F238E27FC236}">
                <a16:creationId xmlns:a16="http://schemas.microsoft.com/office/drawing/2014/main" id="{CF769790-7993-4B7C-BB4F-7845291C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D5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7" name="open-next">
            <a:extLst xmlns:a="http://schemas.openxmlformats.org/drawingml/2006/main">
              <a:ext uri="{FF2B5EF4-FFF2-40B4-BE49-F238E27FC236}">
                <a16:creationId xmlns:a16="http://schemas.microsoft.com/office/drawing/2014/main" id="{1C5EA718-A6E0-4E40-938B-E7A6377D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19050">
            <a:solidFill>
              <a:srgbClr val="B85C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3750A-D506-4877-A5F7-4EA2867B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22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5322F"/>
                </a:solidFill>
                <a:latin typeface="Aptos Display"/>
                <a:ea typeface="Aptos Display"/>
                <a:cs typeface="Aptos Display"/>
              </a:rPr>
              <a:t>Credible 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5AACA-5344-49BD-B68F-FE2A27B8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22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5322F"/>
                </a:solidFill>
                <a:latin typeface="Aptos Display"/>
                <a:ea typeface="Aptos Display"/>
                <a:cs typeface="Aptos Display"/>
              </a:rPr>
              <a:t>Still open before scaling claims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EAC0E-8976-4015-9D75-CA699D61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90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8025A-EA00-4799-83E0-3E678BE9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A full S56 light-curve product can be generated and validated.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FAFAC-90FE-4026-958E-CB8798DE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43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B03DD-2EA6-4A0D-A7E6-4ADEA107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WD 1856 is recoverable in a blind S56 stack with WD-specific vetting.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AA0D84-CA9F-4729-9799-8A0134BB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95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07560-A593-4A0F-8F5F-9873946A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Negative-flux preservation is a real LC-product issue.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A8B9DD-242E-403A-A186-75622D82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48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B41705-DDF3-421A-A097-3BA1D83D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Robust-auto detrending has passed the first faint-end stress test.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B43895-AADE-469C-B083-90463406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90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92D54-85BE-4FCA-9B58-693EA9C4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241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End-to-end injection-recovery through the real search and vetter.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425C5-347D-4E11-93CE-558A0054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43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527437-543F-42EC-B22A-1A891A93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7660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Parent denominator freeze and no-TIC bridge policy.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7CA8E5-4C24-48AF-AC9D-A59F3B9A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95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4A28FD-9D96-4143-ADB0-5D47E135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290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False-alarm model and WD-specific FP taxonomy.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F5C904-3E47-4C12-862B-A8ECA3B2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48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02DC17-10A4-462E-ACB8-98A9BE9B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Dip-search branch for WD 1145-like debris systems.</a:t>
            </a:r>
          </a:p>
        </p:txBody>
      </p:sp>
      <p:sp>
        <p:nvSpPr>
          <p:cNvPr id="26" name="interpretation-cue">
            <a:extLst xmlns:a="http://schemas.openxmlformats.org/drawingml/2006/main">
              <a:ext uri="{FF2B5EF4-FFF2-40B4-BE49-F238E27FC236}">
                <a16:creationId xmlns:a16="http://schemas.microsoft.com/office/drawing/2014/main" id="{25F202DA-ACB5-4191-B0BC-57F37779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115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19050">
            <a:solidFill>
              <a:srgbClr val="D6A2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3FA7BC-1497-4D1F-86D6-FECC0C2B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7875"/>
            <a:ext cx="969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322F"/>
                </a:solidFill>
                <a:latin typeface="Aptos"/>
                <a:ea typeface="Aptos"/>
                <a:cs typeface="Aptos"/>
              </a:rPr>
              <a:t>Discussion cue: what evidence would make Andrew/Kevin comfortable that the benchmark has moved from demo to acceptance test?</a:t>
            </a:r>
          </a:p>
        </p:txBody>
      </p:sp>
      <p:sp>
        <p:nvSpPr>
          <p:cNvPr id="2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594AAD8-D049-4143-B9F7-39C2417C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AB285C0-FB20-4A45-B579-5CBBFCA7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Source: doc/twirl_plan.md acceptance logic; doc/ideas.md referee risks.</a:t>
            </a:r>
          </a:p>
        </p:txBody>
      </p:sp>
      <p:sp>
        <p:nvSpPr>
          <p:cNvPr id="3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48DB2A6-62B4-4468-A3E1-B7E26A27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2858999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0D3F819-C850-4326-92BE-D0495BC6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3ED2DBA9-3B05-4365-8D63-B947F792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195191A5-368D-4769-9AE3-617808D0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C6CB662B-1D7F-4F1C-9331-81747CAC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COLLABORATION MODEL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58E07CC-D1BE-4086-8C4B-2AF8AD34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rPr>
              <a:t>The Michelle collaboration should separate substrate, search, vetting, and validation.</a:t>
            </a:r>
          </a:p>
        </p:txBody>
      </p:sp>
      <p:sp>
        <p:nvSpPr>
          <p:cNvPr id="6" name="lane-name-0">
            <a:extLst xmlns:a="http://schemas.openxmlformats.org/drawingml/2006/main">
              <a:ext uri="{FF2B5EF4-FFF2-40B4-BE49-F238E27FC236}">
                <a16:creationId xmlns:a16="http://schemas.microsoft.com/office/drawing/2014/main" id="{DEC44B76-0A74-419D-8BF2-9D4B901E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3E171-7276-43B7-BD7B-9486488A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 Han / TWIRL</a:t>
            </a:r>
          </a:p>
        </p:txBody>
      </p:sp>
      <p:sp>
        <p:nvSpPr>
          <p:cNvPr id="8" name="lane-body-0">
            <a:extLst xmlns:a="http://schemas.openxmlformats.org/drawingml/2006/main">
              <a:ext uri="{FF2B5EF4-FFF2-40B4-BE49-F238E27FC236}">
                <a16:creationId xmlns:a16="http://schemas.microsoft.com/office/drawing/2014/main" id="{67CD71FF-C5FA-4F83-8035-F3E2045E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5735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6C104-51DC-4A9D-9BB8-9535E0BA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90700"/>
            <a:ext cx="6819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Light-curve production, v3 HLSP tree, data stewardship, heuristic vetter, LC-side completeness comparison.</a:t>
            </a:r>
          </a:p>
        </p:txBody>
      </p:sp>
      <p:sp>
        <p:nvSpPr>
          <p:cNvPr id="10" name="lane-name-1">
            <a:extLst xmlns:a="http://schemas.openxmlformats.org/drawingml/2006/main">
              <a:ext uri="{FF2B5EF4-FFF2-40B4-BE49-F238E27FC236}">
                <a16:creationId xmlns:a16="http://schemas.microsoft.com/office/drawing/2014/main" id="{3876E32B-A63E-4D78-B116-8B627F0F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F4266-CB9E-4194-8C44-3B508493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Michelle's group</a:t>
            </a:r>
          </a:p>
        </p:txBody>
      </p:sp>
      <p:sp>
        <p:nvSpPr>
          <p:cNvPr id="12" name="lane-body-1">
            <a:extLst xmlns:a="http://schemas.openxmlformats.org/drawingml/2006/main">
              <a:ext uri="{FF2B5EF4-FFF2-40B4-BE49-F238E27FC236}">
                <a16:creationId xmlns:a16="http://schemas.microsoft.com/office/drawing/2014/main" id="{F165E630-BC3E-4760-8216-A84266C8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5270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B8804-C4C9-4C28-95C9-5DD845EB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86050"/>
            <a:ext cx="6819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Production BLS, search-statistic variants, LEO-Vetter domain expertise, comparison against TWIRL reference search.</a:t>
            </a:r>
          </a:p>
        </p:txBody>
      </p:sp>
      <p:sp>
        <p:nvSpPr>
          <p:cNvPr id="14" name="lane-name-2">
            <a:extLst xmlns:a="http://schemas.openxmlformats.org/drawingml/2006/main">
              <a:ext uri="{FF2B5EF4-FFF2-40B4-BE49-F238E27FC236}">
                <a16:creationId xmlns:a16="http://schemas.microsoft.com/office/drawing/2014/main" id="{19D278E2-E7B3-4103-A3F8-5E8841E9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09336-6A5B-4372-85A9-FF36CE7C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Michelle student + Franklin</a:t>
            </a:r>
          </a:p>
        </p:txBody>
      </p:sp>
      <p:sp>
        <p:nvSpPr>
          <p:cNvPr id="16" name="lane-body-2">
            <a:extLst xmlns:a="http://schemas.openxmlformats.org/drawingml/2006/main">
              <a:ext uri="{FF2B5EF4-FFF2-40B4-BE49-F238E27FC236}">
                <a16:creationId xmlns:a16="http://schemas.microsoft.com/office/drawing/2014/main" id="{ACD1A0ED-3664-4E9D-8B01-BB589841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4805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D6A2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71E81E-4F44-4CFB-ABE8-99FB29AD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81400"/>
            <a:ext cx="6819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Independent WD-host LEO tuning, threshold experiments, top-N comparison with TWIRL fork.</a:t>
            </a:r>
          </a:p>
        </p:txBody>
      </p:sp>
      <p:sp>
        <p:nvSpPr>
          <p:cNvPr id="18" name="lane-name-3">
            <a:extLst xmlns:a="http://schemas.openxmlformats.org/drawingml/2006/main">
              <a:ext uri="{FF2B5EF4-FFF2-40B4-BE49-F238E27FC236}">
                <a16:creationId xmlns:a16="http://schemas.microsoft.com/office/drawing/2014/main" id="{E370B883-E8FE-4ECA-8C17-BCCD4B5C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C8C1A-3747-4085-AC85-BB5A1681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Andrew + Kevin + room</a:t>
            </a:r>
          </a:p>
        </p:txBody>
      </p:sp>
      <p:sp>
        <p:nvSpPr>
          <p:cNvPr id="20" name="lane-body-3">
            <a:extLst xmlns:a="http://schemas.openxmlformats.org/drawingml/2006/main">
              <a:ext uri="{FF2B5EF4-FFF2-40B4-BE49-F238E27FC236}">
                <a16:creationId xmlns:a16="http://schemas.microsoft.com/office/drawing/2014/main" id="{35AB6F9C-5DD2-40E7-A114-60F8EA82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4340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F47B9-6297-47A7-9A89-2CB32456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76750"/>
            <a:ext cx="6819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Benchmark standards, false-positive discrimination, follow-up path, validation realism.</a:t>
            </a:r>
          </a:p>
        </p:txBody>
      </p:sp>
      <p:sp>
        <p:nvSpPr>
          <p:cNvPr id="22" name="shared-spine">
            <a:extLst xmlns:a="http://schemas.openxmlformats.org/drawingml/2006/main">
              <a:ext uri="{FF2B5EF4-FFF2-40B4-BE49-F238E27FC236}">
                <a16:creationId xmlns:a16="http://schemas.microsoft.com/office/drawing/2014/main" id="{C03E8167-5CE7-4308-ADAC-AEE7753E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657350"/>
            <a:ext cx="1905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4B77BB-8E46-4E51-BE96-F0775B90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101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E7771"/>
                </a:solidFill>
                <a:latin typeface="Aptos"/>
                <a:ea typeface="Aptos"/>
                <a:cs typeface="Aptos"/>
              </a:rPr>
              <a:t>Shared</a:t>
            </a:r>
          </a:p>
        </p:txBody>
      </p:sp>
      <p:sp>
        <p:nvSpPr>
          <p:cNvPr id="24" name="collab-output">
            <a:extLst xmlns:a="http://schemas.openxmlformats.org/drawingml/2006/main">
              <a:ext uri="{FF2B5EF4-FFF2-40B4-BE49-F238E27FC236}">
                <a16:creationId xmlns:a16="http://schemas.microsoft.com/office/drawing/2014/main" id="{576E31DB-C2D8-45CB-8EEB-EE799028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9772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19050">
            <a:solidFill>
              <a:srgbClr val="D6A2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8F99A0-9671-481E-8F93-972FF5E1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935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322F"/>
                </a:solidFill>
                <a:latin typeface="Aptos"/>
                <a:ea typeface="Aptos"/>
                <a:cs typeface="Aptos"/>
              </a:rPr>
              <a:t>Joint output for this phase: a v3 S56 candidate list, a WD 1856 blind-recovery statement, and a completeness experiment everyone trusts.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AC516DB-992A-446A-8F69-BAFB8D1F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ABA9A2D-5E86-4BE9-8D9D-297EC7E2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Source: doc/twirl_plan.md Collaboration &amp; Ownership, scientific lanes only.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7DAB67D-2964-47FB-B705-ABC8F021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809214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8363A12-FF5D-43C1-92C0-05310B0D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iscussion-accent">
            <a:extLst xmlns:a="http://schemas.openxmlformats.org/drawingml/2006/main">
              <a:ext uri="{FF2B5EF4-FFF2-40B4-BE49-F238E27FC236}">
                <a16:creationId xmlns:a16="http://schemas.microsoft.com/office/drawing/2014/main" id="{11943F8F-2595-43B3-9399-2FEEABD9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1CF6E-E4AC-48B4-B16D-072DD9E1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A2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A23A"/>
                </a:solidFill>
                <a:latin typeface="Aptos"/>
                <a:ea typeface="Aptos"/>
                <a:cs typeface="Aptos"/>
              </a:rPr>
              <a:t>ROOM 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255A1-F1CF-47D5-A81F-5C79AFFA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8191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5E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5EE"/>
                </a:solidFill>
                <a:latin typeface="Aptos Display"/>
                <a:ea typeface="Aptos Display"/>
                <a:cs typeface="Aptos Display"/>
              </a:rPr>
              <a:t>Ask for contributions where expertise changes the answer.</a:t>
            </a:r>
          </a:p>
        </p:txBody>
      </p:sp>
      <p:sp>
        <p:nvSpPr>
          <p:cNvPr id="5" name="prompt-0">
            <a:extLst xmlns:a="http://schemas.openxmlformats.org/drawingml/2006/main">
              <a:ext uri="{FF2B5EF4-FFF2-40B4-BE49-F238E27FC236}">
                <a16:creationId xmlns:a16="http://schemas.microsoft.com/office/drawing/2014/main" id="{4759FC7D-AF7E-434B-BBE4-E2A44111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32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0D286-5396-4F1A-B31B-C0B6079E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DAD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FDAD5"/>
                </a:solidFill>
                <a:latin typeface="Aptos"/>
                <a:ea typeface="Aptos"/>
                <a:cs typeface="Aptos"/>
              </a:rPr>
              <a:t>Andrew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470A4-7363-479D-9D3B-2CF03DE0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4267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5E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5EE"/>
                </a:solidFill>
                <a:latin typeface="Aptos"/>
                <a:ea typeface="Aptos"/>
                <a:cs typeface="Aptos"/>
              </a:rPr>
              <a:t>What recovery evidence makes WD 1856 a credible benchmark rather than only a demo?</a:t>
            </a:r>
          </a:p>
        </p:txBody>
      </p:sp>
      <p:sp>
        <p:nvSpPr>
          <p:cNvPr id="8" name="prompt-1">
            <a:extLst xmlns:a="http://schemas.openxmlformats.org/drawingml/2006/main">
              <a:ext uri="{FF2B5EF4-FFF2-40B4-BE49-F238E27FC236}">
                <a16:creationId xmlns:a16="http://schemas.microsoft.com/office/drawing/2014/main" id="{12226195-CF3F-470D-9CAA-41C1EFFF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32"/>
          </a:solidFill>
          <a:ln xmlns:a="http://schemas.openxmlformats.org/drawingml/2006/main" w="19050">
            <a:solidFill>
              <a:srgbClr val="B85C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75294-E473-4338-8EBC-A367C615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574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D1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D1C4"/>
                </a:solidFill>
                <a:latin typeface="Aptos"/>
                <a:ea typeface="Aptos"/>
                <a:cs typeface="Aptos"/>
              </a:rPr>
              <a:t>Kevin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B7A77-2A38-4FE7-B3DD-B0C20088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4267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5E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5EE"/>
                </a:solidFill>
                <a:latin typeface="Aptos"/>
                <a:ea typeface="Aptos"/>
                <a:cs typeface="Aptos"/>
              </a:rPr>
              <a:t>Which WD false positives are most dangerous for faint TESS candidates, and where does fast photometry change the game?</a:t>
            </a:r>
          </a:p>
        </p:txBody>
      </p:sp>
      <p:sp>
        <p:nvSpPr>
          <p:cNvPr id="11" name="prompt-2">
            <a:extLst xmlns:a="http://schemas.openxmlformats.org/drawingml/2006/main">
              <a:ext uri="{FF2B5EF4-FFF2-40B4-BE49-F238E27FC236}">
                <a16:creationId xmlns:a16="http://schemas.microsoft.com/office/drawing/2014/main" id="{065D0762-3CF6-4AD2-9EA3-2C308FA1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32"/>
          </a:solidFill>
          <a:ln xmlns:a="http://schemas.openxmlformats.org/drawingml/2006/main" w="19050">
            <a:solidFill>
              <a:srgbClr val="3B6E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00FBB-EF74-4492-8F71-86DBDC87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D8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D8EA"/>
                </a:solidFill>
                <a:latin typeface="Aptos"/>
                <a:ea typeface="Aptos"/>
                <a:cs typeface="Aptos"/>
              </a:rPr>
              <a:t>Michelle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6C6495-F9AC-4DD3-82CD-C0FBF9A5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4267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5E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5EE"/>
                </a:solidFill>
                <a:latin typeface="Aptos"/>
                <a:ea typeface="Aptos"/>
                <a:cs typeface="Aptos"/>
              </a:rPr>
              <a:t>What schema and candidate-table contract lets the tuned BLS and LEO stacks consume TWIRL HLSPs cleanly?</a:t>
            </a:r>
          </a:p>
        </p:txBody>
      </p:sp>
      <p:sp>
        <p:nvSpPr>
          <p:cNvPr id="14" name="prompt-3">
            <a:extLst xmlns:a="http://schemas.openxmlformats.org/drawingml/2006/main">
              <a:ext uri="{FF2B5EF4-FFF2-40B4-BE49-F238E27FC236}">
                <a16:creationId xmlns:a16="http://schemas.microsoft.com/office/drawing/2014/main" id="{74484B8D-8FF5-49CD-AD29-C9C83200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32"/>
          </a:solidFill>
          <a:ln xmlns:a="http://schemas.openxmlformats.org/drawingml/2006/main" w="19050">
            <a:solidFill>
              <a:srgbClr val="D6A2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E3AAA-25D3-4E7E-9513-05BC0B2C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672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1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1B4"/>
                </a:solidFill>
                <a:latin typeface="Aptos"/>
                <a:ea typeface="Aptos"/>
                <a:cs typeface="Aptos"/>
              </a:rPr>
              <a:t>Everyone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D46A1-E130-43FB-999C-921EC2B3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91050"/>
            <a:ext cx="4267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5E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5EE"/>
                </a:solidFill>
                <a:latin typeface="Aptos"/>
                <a:ea typeface="Aptos"/>
                <a:cs typeface="Aptos"/>
              </a:rPr>
              <a:t>What first observable event class should the project claim before the occurrence-rate denominator is frozen?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F515A-D54F-4930-B112-90DBD14F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FC7C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FC7C1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3232355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4593B12-9B7F-48E7-9479-66DB7800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4BE3CADA-AAF2-4077-B2C5-40FE74E6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22CF1011-FB8E-4628-AE9A-46A1AFA8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6CC6DE10-C235-4EC2-A96F-0A774FA6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PRE-TALK SPRINT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C63A334-DE29-4197-8B1C-CC577C08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0">
                <a:solidFill>
                  <a:srgbClr val="172321"/>
                </a:solidFill>
                <a:latin typeface="Aptos Display"/>
                <a:ea typeface="Aptos Display"/>
                <a:cs typeface="Aptos Display"/>
              </a:rPr>
              <a:t>The next three weeks are a three-part stress test.</a:t>
            </a:r>
          </a:p>
        </p:txBody>
      </p:sp>
      <p:sp>
        <p:nvSpPr>
          <p:cNvPr id="6" name="week-line-0">
            <a:extLst xmlns:a="http://schemas.openxmlformats.org/drawingml/2006/main">
              <a:ext uri="{FF2B5EF4-FFF2-40B4-BE49-F238E27FC236}">
                <a16:creationId xmlns:a16="http://schemas.microsoft.com/office/drawing/2014/main" id="{F6537508-44C5-45B3-9C69-FF6DD10C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week-dot-0">
            <a:extLst xmlns:a="http://schemas.openxmlformats.org/drawingml/2006/main">
              <a:ext uri="{FF2B5EF4-FFF2-40B4-BE49-F238E27FC236}">
                <a16:creationId xmlns:a16="http://schemas.microsoft.com/office/drawing/2014/main" id="{04FAE2F1-8C62-494C-9224-F0007E67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AB4A2-59F5-411D-9909-AE811A8D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Week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6AED3-3A44-4876-9E09-F7FA451B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322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5322F"/>
                </a:solidFill>
                <a:latin typeface="Aptos Display"/>
                <a:ea typeface="Aptos Display"/>
                <a:cs typeface="Aptos Display"/>
              </a:rPr>
              <a:t>v3 tree and comparison table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BA71B-BD64-4177-9962-F80DA81B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Hand off S56 TWIRL HLSPs; run reference BLS + heuristic + LEO; populate v2-vs-v3 table.</a:t>
            </a:r>
          </a:p>
        </p:txBody>
      </p:sp>
      <p:sp>
        <p:nvSpPr>
          <p:cNvPr id="11" name="week-line-1">
            <a:extLst xmlns:a="http://schemas.openxmlformats.org/drawingml/2006/main">
              <a:ext uri="{FF2B5EF4-FFF2-40B4-BE49-F238E27FC236}">
                <a16:creationId xmlns:a16="http://schemas.microsoft.com/office/drawing/2014/main" id="{0E4EFC68-C7B1-438C-BF6B-8DA4B244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812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week-dot-1">
            <a:extLst xmlns:a="http://schemas.openxmlformats.org/drawingml/2006/main">
              <a:ext uri="{FF2B5EF4-FFF2-40B4-BE49-F238E27FC236}">
                <a16:creationId xmlns:a16="http://schemas.microsoft.com/office/drawing/2014/main" id="{D9534746-DDBC-407C-9B9B-3407F482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3C296-04DF-4A28-89BA-7901ADEC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95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6A2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A23A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FFD545-86BE-4877-AB6C-C55D4154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575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322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5322F"/>
                </a:solidFill>
                <a:latin typeface="Aptos Display"/>
                <a:ea typeface="Aptos Display"/>
                <a:cs typeface="Aptos Display"/>
              </a:rPr>
              <a:t>injection-recovery plus LEO tuning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7A617-D4D4-4FEE-8D35-1D8DE651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6235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Shared exploration: LC-side v2-vs-v3 completeness delta; parallel LEO-WD tuning comparison.</a:t>
            </a:r>
          </a:p>
        </p:txBody>
      </p:sp>
      <p:sp>
        <p:nvSpPr>
          <p:cNvPr id="16" name="week-line-2">
            <a:extLst xmlns:a="http://schemas.openxmlformats.org/drawingml/2006/main">
              <a:ext uri="{FF2B5EF4-FFF2-40B4-BE49-F238E27FC236}">
                <a16:creationId xmlns:a16="http://schemas.microsoft.com/office/drawing/2014/main" id="{41A62DDF-5161-444C-A6A2-05FFB3F3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812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week-dot-2">
            <a:extLst xmlns:a="http://schemas.openxmlformats.org/drawingml/2006/main">
              <a:ext uri="{FF2B5EF4-FFF2-40B4-BE49-F238E27FC236}">
                <a16:creationId xmlns:a16="http://schemas.microsoft.com/office/drawing/2014/main" id="{967BD0E7-488D-40F7-A292-49EADB9E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DCB620-4668-4B7E-850B-ACD7A07D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95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B6E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B6EA8"/>
                </a:solidFill>
                <a:latin typeface="Aptos"/>
                <a:ea typeface="Aptos"/>
                <a:cs typeface="Aptos"/>
              </a:rPr>
              <a:t>Week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15EEC-CC83-4F66-880B-4EE883CE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575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322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5322F"/>
                </a:solidFill>
                <a:latin typeface="Aptos Display"/>
                <a:ea typeface="Aptos Display"/>
                <a:cs typeface="Aptos Display"/>
              </a:rPr>
              <a:t>WD 1856 joint blind recovery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BBBBEF-FA8A-4E9C-BDAA-BA3729BD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6235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5322F"/>
                </a:solidFill>
                <a:latin typeface="Aptos"/>
                <a:ea typeface="Aptos"/>
                <a:cs typeface="Aptos"/>
              </a:rPr>
              <a:t>Confirm WD 1856 as PC in at least one search x vetter combination; classify top false-positive families.</a:t>
            </a:r>
          </a:p>
        </p:txBody>
      </p:sp>
      <p:sp>
        <p:nvSpPr>
          <p:cNvPr id="21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31E2A3AC-F633-419F-B177-304D7CBC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193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connector-end">
            <a:extLst xmlns:a="http://schemas.openxmlformats.org/drawingml/2006/main">
              <a:ext uri="{FF2B5EF4-FFF2-40B4-BE49-F238E27FC236}">
                <a16:creationId xmlns:a16="http://schemas.microsoft.com/office/drawing/2014/main" id="{E16234A3-BE31-40CE-B417-0BDDA703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81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33CD029E-FC91-46FF-8C9E-27601418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connector-end">
            <a:extLst xmlns:a="http://schemas.openxmlformats.org/drawingml/2006/main">
              <a:ext uri="{FF2B5EF4-FFF2-40B4-BE49-F238E27FC236}">
                <a16:creationId xmlns:a16="http://schemas.microsoft.com/office/drawing/2014/main" id="{1A2A855F-1B44-431B-BC91-AFCEE84C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81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print-caveat">
            <a:extLst xmlns:a="http://schemas.openxmlformats.org/drawingml/2006/main">
              <a:ext uri="{FF2B5EF4-FFF2-40B4-BE49-F238E27FC236}">
                <a16:creationId xmlns:a16="http://schemas.microsoft.com/office/drawing/2014/main" id="{F17959AC-9AC7-4BE5-91F7-41902F27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952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19050">
            <a:solidFill>
              <a:srgbClr val="B85C3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B3C07A-07A9-4103-B67E-B32B23EE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81625"/>
            <a:ext cx="910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2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322F"/>
                </a:solidFill>
                <a:latin typeface="Aptos"/>
                <a:ea typeface="Aptos"/>
                <a:cs typeface="Aptos"/>
              </a:rPr>
              <a:t>Freeze the talk result on S56. Use S57+ production status only as pipeline scale context, not as search evidence.</a:t>
            </a:r>
          </a:p>
        </p:txBody>
      </p:sp>
      <p:sp>
        <p:nvSpPr>
          <p:cNvPr id="2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7C3EDBD-2E0E-4D82-8CEB-26E69346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8421E28-6075-4F59-9E28-F3C892C8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7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71"/>
                </a:solidFill>
                <a:latin typeface="Aptos"/>
                <a:ea typeface="Aptos"/>
                <a:cs typeface="Aptos"/>
              </a:rPr>
              <a:t>Source: doc/twirl_plan.md Three-Week Pre-Talk Vertical Slice.</a:t>
            </a:r>
          </a:p>
        </p:txBody>
      </p:sp>
      <p:sp>
        <p:nvSpPr>
          <p:cNvPr id="2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D46D806-D7B0-47E5-9349-2F2C7994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E7771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0448007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3A2E5DC-C8FE-4680-BBFE-1C2E3E25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inal-accent">
            <a:extLst xmlns:a="http://schemas.openxmlformats.org/drawingml/2006/main">
              <a:ext uri="{FF2B5EF4-FFF2-40B4-BE49-F238E27FC236}">
                <a16:creationId xmlns:a16="http://schemas.microsoft.com/office/drawing/2014/main" id="{CA1660A4-AD76-44DA-9BD4-C71466D8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034D6-B0C3-4FA4-9123-8EFBB9BF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A2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A23A"/>
                </a:solidFill>
                <a:latin typeface="Aptos"/>
                <a:ea typeface="Aptos"/>
                <a:cs typeface="Aptos"/>
              </a:rPr>
              <a:t>MEETING 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AD63E-ADA9-4503-89A0-DEE2C6D4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5E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5EE"/>
                </a:solidFill>
                <a:latin typeface="Aptos Display"/>
                <a:ea typeface="Aptos Display"/>
                <a:cs typeface="Aptos Display"/>
              </a:rPr>
              <a:t>By the end, the project should have one narrow target and one shared test plan.</a:t>
            </a:r>
          </a:p>
        </p:txBody>
      </p:sp>
      <p:sp>
        <p:nvSpPr>
          <p:cNvPr id="5" name="final-check-0">
            <a:extLst xmlns:a="http://schemas.openxmlformats.org/drawingml/2006/main">
              <a:ext uri="{FF2B5EF4-FFF2-40B4-BE49-F238E27FC236}">
                <a16:creationId xmlns:a16="http://schemas.microsoft.com/office/drawing/2014/main" id="{7AB4EB22-2D04-4BBC-8269-84C75709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CC8DD-9A33-40C6-9BE0-6176C985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3CC3B-6DEE-49B4-9F46-229BD994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43150"/>
            <a:ext cx="447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5E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5EE"/>
                </a:solidFill>
                <a:latin typeface="Aptos"/>
                <a:ea typeface="Aptos"/>
                <a:cs typeface="Aptos"/>
              </a:rPr>
              <a:t>Scope phrase and non-goals for the S56-to-survey path</a:t>
            </a:r>
          </a:p>
        </p:txBody>
      </p:sp>
      <p:sp>
        <p:nvSpPr>
          <p:cNvPr id="8" name="final-check-1">
            <a:extLst xmlns:a="http://schemas.openxmlformats.org/drawingml/2006/main">
              <a:ext uri="{FF2B5EF4-FFF2-40B4-BE49-F238E27FC236}">
                <a16:creationId xmlns:a16="http://schemas.microsoft.com/office/drawing/2014/main" id="{13346518-C993-4F11-A366-87649753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65D89-081D-4447-BE09-7C7F3E5D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813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0DB14-AE12-4EE5-B3A5-B76B934F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447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5E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5EE"/>
                </a:solidFill>
                <a:latin typeface="Aptos"/>
                <a:ea typeface="Aptos"/>
                <a:cs typeface="Aptos"/>
              </a:rPr>
              <a:t>WD 1856 benchmark acceptance criteria</a:t>
            </a:r>
          </a:p>
        </p:txBody>
      </p:sp>
      <p:sp>
        <p:nvSpPr>
          <p:cNvPr id="11" name="final-check-2">
            <a:extLst xmlns:a="http://schemas.openxmlformats.org/drawingml/2006/main">
              <a:ext uri="{FF2B5EF4-FFF2-40B4-BE49-F238E27FC236}">
                <a16:creationId xmlns:a16="http://schemas.microsoft.com/office/drawing/2014/main" id="{88CE9F39-E5F6-48A1-A3A0-DCBBD5EC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6324D-C6DC-4104-835A-60BEE2E7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576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69528-26AB-4627-99B1-C7E186D4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95750"/>
            <a:ext cx="447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5E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5EE"/>
                </a:solidFill>
                <a:latin typeface="Aptos"/>
                <a:ea typeface="Aptos"/>
                <a:cs typeface="Aptos"/>
              </a:rPr>
              <a:t>BLS / LEO candidate-table interface</a:t>
            </a:r>
          </a:p>
        </p:txBody>
      </p:sp>
      <p:sp>
        <p:nvSpPr>
          <p:cNvPr id="14" name="final-check-3">
            <a:extLst xmlns:a="http://schemas.openxmlformats.org/drawingml/2006/main">
              <a:ext uri="{FF2B5EF4-FFF2-40B4-BE49-F238E27FC236}">
                <a16:creationId xmlns:a16="http://schemas.microsoft.com/office/drawing/2014/main" id="{190BB639-79B7-401A-8638-05354CAA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4E646-55FB-42CC-957F-83C6355C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050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6DB8EE-B7EC-46D3-B3E5-717DE5A7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43150"/>
            <a:ext cx="447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5E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5EE"/>
                </a:solidFill>
                <a:latin typeface="Aptos"/>
                <a:ea typeface="Aptos"/>
                <a:cs typeface="Aptos"/>
              </a:rPr>
              <a:t>Injection grid, metrics, and success definition</a:t>
            </a:r>
          </a:p>
        </p:txBody>
      </p:sp>
      <p:sp>
        <p:nvSpPr>
          <p:cNvPr id="17" name="final-check-4">
            <a:extLst xmlns:a="http://schemas.openxmlformats.org/drawingml/2006/main">
              <a:ext uri="{FF2B5EF4-FFF2-40B4-BE49-F238E27FC236}">
                <a16:creationId xmlns:a16="http://schemas.microsoft.com/office/drawing/2014/main" id="{4D52F8B3-BF8E-4B6C-A6C0-13FCCDF5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35C1D7-2371-48B3-A67C-C8A0E9D2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813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7A1484-E9EE-4A8A-A430-99D703C4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19450"/>
            <a:ext cx="447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5E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5EE"/>
                </a:solidFill>
                <a:latin typeface="Aptos"/>
                <a:ea typeface="Aptos"/>
                <a:cs typeface="Aptos"/>
              </a:rPr>
              <a:t>False-positive taxonomy and follow-up responsibilities</a:t>
            </a:r>
          </a:p>
        </p:txBody>
      </p:sp>
      <p:sp>
        <p:nvSpPr>
          <p:cNvPr id="20" name="final-check-5">
            <a:extLst xmlns:a="http://schemas.openxmlformats.org/drawingml/2006/main">
              <a:ext uri="{FF2B5EF4-FFF2-40B4-BE49-F238E27FC236}">
                <a16:creationId xmlns:a16="http://schemas.microsoft.com/office/drawing/2014/main" id="{B3A89BAB-D21A-4362-A76D-551DE3EA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00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44ACBB-D9B9-4029-A5AE-87B0BA2C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3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321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A1428F-CD00-4CB7-B63C-DABBCF96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95750"/>
            <a:ext cx="447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5E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5EE"/>
                </a:solidFill>
                <a:latin typeface="Aptos"/>
                <a:ea typeface="Aptos"/>
                <a:cs typeface="Aptos"/>
              </a:rPr>
              <a:t>Next meeting owners and artifacts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D0872-DEAD-4EC1-859E-730C2F88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864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DE4D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DE4DD"/>
                </a:solidFill>
                <a:latin typeface="Aptos"/>
                <a:ea typeface="Aptos"/>
                <a:cs typeface="Aptos"/>
              </a:rPr>
              <a:t>Closing line: I do not need this to be final today; I need the next test to be the right one.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0637A5-B40F-4524-829E-E15A2B87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FC7C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FC7C1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51068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2026-05-18T16:09:23.6640000Z</dcterms:created>
  <dcterms:modified xsi:type="dcterms:W3CDTF">2026-05-18T16:09:23.6640000Z</dcterms:modified>
</coreProperties>
</file>