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a70eda8caa41fa" /><Relationship Type="http://schemas.openxmlformats.org/officeDocument/2006/relationships/extended-properties" Target="/docProps/app.xml" Id="R779101af783747e5" /><Relationship Type="http://schemas.openxmlformats.org/officeDocument/2006/relationships/officeDocument" Target="/ppt/presentation.xml" Id="Rd7855039945f47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e0397e227f48ff"/>
  </p:sldMasterIdLst>
  <p:notesMasterIdLst>
    <p:notesMasterId xmlns:r="http://schemas.openxmlformats.org/officeDocument/2006/relationships" r:id="R47f29f0804144062"/>
  </p:notesMasterIdLst>
  <p:sldIdLst>
    <p:sldId xmlns:r="http://schemas.openxmlformats.org/officeDocument/2006/relationships" id="256" r:id="R6dcdba49e4cb4c60"/>
    <p:sldId xmlns:r="http://schemas.openxmlformats.org/officeDocument/2006/relationships" id="257" r:id="R467f953cf80b44e7"/>
    <p:sldId xmlns:r="http://schemas.openxmlformats.org/officeDocument/2006/relationships" id="258" r:id="Ra5def305c7394ee9"/>
    <p:sldId xmlns:r="http://schemas.openxmlformats.org/officeDocument/2006/relationships" id="259" r:id="R65d32eae79034cce"/>
    <p:sldId xmlns:r="http://schemas.openxmlformats.org/officeDocument/2006/relationships" id="260" r:id="Rd2be609180af4832"/>
    <p:sldId xmlns:r="http://schemas.openxmlformats.org/officeDocument/2006/relationships" id="261" r:id="Re277adbb59dc4c5d"/>
    <p:sldId xmlns:r="http://schemas.openxmlformats.org/officeDocument/2006/relationships" id="262" r:id="R519e6970e3d548d7"/>
    <p:sldId xmlns:r="http://schemas.openxmlformats.org/officeDocument/2006/relationships" id="263" r:id="Re3bff50e69294032"/>
    <p:sldId xmlns:r="http://schemas.openxmlformats.org/officeDocument/2006/relationships" id="264" r:id="R7e14dd19397248dc"/>
    <p:sldId xmlns:r="http://schemas.openxmlformats.org/officeDocument/2006/relationships" id="265" r:id="R80a198c4b81d4791"/>
    <p:sldId xmlns:r="http://schemas.openxmlformats.org/officeDocument/2006/relationships" id="266" r:id="Rcde8a2db7ee04036"/>
    <p:sldId xmlns:r="http://schemas.openxmlformats.org/officeDocument/2006/relationships" id="267" r:id="R0a2a700fe692422c"/>
    <p:sldId xmlns:r="http://schemas.openxmlformats.org/officeDocument/2006/relationships" id="268" r:id="R71df962d383f4101"/>
    <p:sldId xmlns:r="http://schemas.openxmlformats.org/officeDocument/2006/relationships" id="269" r:id="R91fc6dde1a7945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0397e227f48ff" /><Relationship Type="http://schemas.openxmlformats.org/officeDocument/2006/relationships/theme" Target="/ppt/theme/theme1.xml" Id="R06525f05d1cf4958" /><Relationship Type="http://schemas.openxmlformats.org/officeDocument/2006/relationships/notesMaster" Target="/ppt/notesMasters/notesMaster1.xml" Id="R47f29f0804144062" /><Relationship Type="http://schemas.openxmlformats.org/officeDocument/2006/relationships/presProps" Target="/ppt/presProps.xml" Id="R5157c2034fb044c2" /><Relationship Type="http://schemas.openxmlformats.org/officeDocument/2006/relationships/viewProps" Target="/ppt/viewProps.xml" Id="R5c82ff46da9b43c8" /><Relationship Type="http://schemas.openxmlformats.org/officeDocument/2006/relationships/tableStyles" Target="/ppt/tableStyles.xml" Id="Rc6dee4ab277f4a26" /><Relationship Type="http://schemas.openxmlformats.org/officeDocument/2006/relationships/slide" Target="/ppt/slides/slide1.xml" Id="R6dcdba49e4cb4c60" /><Relationship Type="http://schemas.openxmlformats.org/officeDocument/2006/relationships/slide" Target="/ppt/slides/slide2.xml" Id="R467f953cf80b44e7" /><Relationship Type="http://schemas.openxmlformats.org/officeDocument/2006/relationships/slide" Target="/ppt/slides/slide3.xml" Id="Ra5def305c7394ee9" /><Relationship Type="http://schemas.openxmlformats.org/officeDocument/2006/relationships/slide" Target="/ppt/slides/slide4.xml" Id="R65d32eae79034cce" /><Relationship Type="http://schemas.openxmlformats.org/officeDocument/2006/relationships/slide" Target="/ppt/slides/slide5.xml" Id="Rd2be609180af4832" /><Relationship Type="http://schemas.openxmlformats.org/officeDocument/2006/relationships/slide" Target="/ppt/slides/slide6.xml" Id="Re277adbb59dc4c5d" /><Relationship Type="http://schemas.openxmlformats.org/officeDocument/2006/relationships/slide" Target="/ppt/slides/slide7.xml" Id="R519e6970e3d548d7" /><Relationship Type="http://schemas.openxmlformats.org/officeDocument/2006/relationships/slide" Target="/ppt/slides/slide8.xml" Id="Re3bff50e69294032" /><Relationship Type="http://schemas.openxmlformats.org/officeDocument/2006/relationships/slide" Target="/ppt/slides/slide9.xml" Id="R7e14dd19397248dc" /><Relationship Type="http://schemas.openxmlformats.org/officeDocument/2006/relationships/slide" Target="/ppt/slides/slide10.xml" Id="R80a198c4b81d4791" /><Relationship Type="http://schemas.openxmlformats.org/officeDocument/2006/relationships/slide" Target="/ppt/slides/slide11.xml" Id="Rcde8a2db7ee04036" /><Relationship Type="http://schemas.openxmlformats.org/officeDocument/2006/relationships/slide" Target="/ppt/slides/slide12.xml" Id="R0a2a700fe692422c" /><Relationship Type="http://schemas.openxmlformats.org/officeDocument/2006/relationships/slide" Target="/ppt/slides/slide13.xml" Id="R71df962d383f4101" /><Relationship Type="http://schemas.openxmlformats.org/officeDocument/2006/relationships/slide" Target="/ppt/slides/slide14.xml" Id="R91fc6dde1a7945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dd7af98f3942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f54f74340441f" /><Relationship Type="http://schemas.openxmlformats.org/officeDocument/2006/relationships/notesMaster" Target="/ppt/notesMasters/notesMaster1.xml" Id="Rf37d18bc907d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09b8a4aed0405a" /><Relationship Type="http://schemas.openxmlformats.org/officeDocument/2006/relationships/notesMaster" Target="/ppt/notesMasters/notesMaster1.xml" Id="R3b28595ef6dc48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8fbec087e94a65" /><Relationship Type="http://schemas.openxmlformats.org/officeDocument/2006/relationships/notesMaster" Target="/ppt/notesMasters/notesMaster1.xml" Id="R35a9f9f5722546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acbc430694d03" /><Relationship Type="http://schemas.openxmlformats.org/officeDocument/2006/relationships/notesMaster" Target="/ppt/notesMasters/notesMaster1.xml" Id="R8e63609b1f3946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c4de443e8044ad" /><Relationship Type="http://schemas.openxmlformats.org/officeDocument/2006/relationships/notesMaster" Target="/ppt/notesMasters/notesMaster1.xml" Id="Rf103fa8cc3dd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8a8ea5e8040ec" /><Relationship Type="http://schemas.openxmlformats.org/officeDocument/2006/relationships/notesMaster" Target="/ppt/notesMasters/notesMaster1.xml" Id="R74e63cc9d9734e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658029eab24eca" /><Relationship Type="http://schemas.openxmlformats.org/officeDocument/2006/relationships/notesMaster" Target="/ppt/notesMasters/notesMaster1.xml" Id="R9c6801d094e04e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d32a50877b41cf" /><Relationship Type="http://schemas.openxmlformats.org/officeDocument/2006/relationships/notesMaster" Target="/ppt/notesMasters/notesMaster1.xml" Id="R121e640ebe2042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a89df0158a4eba" /><Relationship Type="http://schemas.openxmlformats.org/officeDocument/2006/relationships/notesMaster" Target="/ppt/notesMasters/notesMaster1.xml" Id="R76b300dcc1554c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a388e63e884e48" /><Relationship Type="http://schemas.openxmlformats.org/officeDocument/2006/relationships/notesMaster" Target="/ppt/notesMasters/notesMaster1.xml" Id="R0ea48f62b8cd46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c2a666f18d4422" /><Relationship Type="http://schemas.openxmlformats.org/officeDocument/2006/relationships/notesMaster" Target="/ppt/notesMasters/notesMaster1.xml" Id="R1884f2ae77a44a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9d4c6db0d94840" /><Relationship Type="http://schemas.openxmlformats.org/officeDocument/2006/relationships/notesMaster" Target="/ppt/notesMasters/notesMaster1.xml" Id="Ra54eab644a9d43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a36622f9ba4fa5" /><Relationship Type="http://schemas.openxmlformats.org/officeDocument/2006/relationships/notesMaster" Target="/ppt/notesMasters/notesMaster1.xml" Id="R9a86f2e9558b4e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41c9633ecf4ddb" /><Relationship Type="http://schemas.openxmlformats.org/officeDocument/2006/relationships/notesMaster" Target="/ppt/notesMasters/notesMaster1.xml" Id="Rc65d5341ded240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a217f1aaf46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beffe422a74e79" /><Relationship Type="http://schemas.openxmlformats.org/officeDocument/2006/relationships/slideLayout" Target="/ppt/slideLayouts/slideLayout2.xml" Id="Rb42b9b92ccd5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2b9b92ccd5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8f075d14b2498d" /><Relationship Type="http://schemas.openxmlformats.org/officeDocument/2006/relationships/image" Target="/ppt/media/image.png" Id="R4d965222ebe64a91" /><Relationship Type="http://schemas.openxmlformats.org/officeDocument/2006/relationships/image" Target="/ppt/media/image2.png" Id="R20e289b54b61417b" /><Relationship Type="http://schemas.openxmlformats.org/officeDocument/2006/relationships/image" Target="/ppt/media/image3.png" Id="R960d9b0ac9194756" /><Relationship Type="http://schemas.openxmlformats.org/officeDocument/2006/relationships/image" Target="/ppt/media/image4.png" Id="R0f671ea02ae74f3a" /><Relationship Type="http://schemas.openxmlformats.org/officeDocument/2006/relationships/image" Target="/ppt/media/image5.png" Id="R850c5e08add5464b" /><Relationship Type="http://schemas.openxmlformats.org/officeDocument/2006/relationships/notesSlide" Target="/ppt/notesSlides/notesSlide1.xml" Id="R9ac7014faed042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eef34e55e94f76" /><Relationship Type="http://schemas.openxmlformats.org/officeDocument/2006/relationships/image" Target="/ppt/media/image6.png" Id="R93e17583ba5c4ae0" /><Relationship Type="http://schemas.openxmlformats.org/officeDocument/2006/relationships/notesSlide" Target="/ppt/notesSlides/notesSlide2.xml" Id="Re146313caaac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04d0b211d4057" /><Relationship Type="http://schemas.openxmlformats.org/officeDocument/2006/relationships/image" Target="/ppt/media/image7.png" Id="R072fb2a4ef1f4f6d" /><Relationship Type="http://schemas.openxmlformats.org/officeDocument/2006/relationships/image" Target="/ppt/media/image8.png" Id="Rad2d9908655f455c" /><Relationship Type="http://schemas.openxmlformats.org/officeDocument/2006/relationships/notesSlide" Target="/ppt/notesSlides/notesSlide3.xml" Id="R03e4597616d247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d90ae32ca4e77" /><Relationship Type="http://schemas.openxmlformats.org/officeDocument/2006/relationships/image" Target="/ppt/media/image9.png" Id="R13853948ed4a4d79" /><Relationship Type="http://schemas.openxmlformats.org/officeDocument/2006/relationships/notesSlide" Target="/ppt/notesSlides/notesSlide4.xml" Id="R22b0f4d572f440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93032191c14837" /><Relationship Type="http://schemas.openxmlformats.org/officeDocument/2006/relationships/image" Target="/ppt/media/image10.png" Id="R49ca80705fca43bf" /><Relationship Type="http://schemas.openxmlformats.org/officeDocument/2006/relationships/notesSlide" Target="/ppt/notesSlides/notesSlide5.xml" Id="R3b27d92902f649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90fd964571468a" /><Relationship Type="http://schemas.openxmlformats.org/officeDocument/2006/relationships/image" Target="/ppt/media/image11.png" Id="Rdc0399c8ebf44c2b" /><Relationship Type="http://schemas.openxmlformats.org/officeDocument/2006/relationships/notesSlide" Target="/ppt/notesSlides/notesSlide6.xml" Id="R13125dd2d5494e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acc0dc55704984" /><Relationship Type="http://schemas.openxmlformats.org/officeDocument/2006/relationships/image" Target="/ppt/media/image12.png" Id="R8989740f7d444ace" /><Relationship Type="http://schemas.openxmlformats.org/officeDocument/2006/relationships/notesSlide" Target="/ppt/notesSlides/notesSlide7.xml" Id="R4ef3d368575540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4e9be86c274e9f" /><Relationship Type="http://schemas.openxmlformats.org/officeDocument/2006/relationships/image" Target="/ppt/media/image13.png" Id="R3773a7fcb3474c62" /><Relationship Type="http://schemas.openxmlformats.org/officeDocument/2006/relationships/notesSlide" Target="/ppt/notesSlides/notesSlide8.xml" Id="R034375fabb3340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bf6f384e664ebe" /><Relationship Type="http://schemas.openxmlformats.org/officeDocument/2006/relationships/image" Target="/ppt/media/image14.png" Id="Rb9dda3c431ff467d" /><Relationship Type="http://schemas.openxmlformats.org/officeDocument/2006/relationships/notesSlide" Target="/ppt/notesSlides/notesSlide9.xml" Id="Rf5e25062e1f344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8c86d3edf4abc" /><Relationship Type="http://schemas.openxmlformats.org/officeDocument/2006/relationships/image" Target="/ppt/media/image15.png" Id="Rb43bafd37ee5469d" /><Relationship Type="http://schemas.openxmlformats.org/officeDocument/2006/relationships/notesSlide" Target="/ppt/notesSlides/notesSlide10.xml" Id="R51fa4383f48549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8bd2e20f7c4f13" /><Relationship Type="http://schemas.openxmlformats.org/officeDocument/2006/relationships/image" Target="/ppt/media/image16.png" Id="Rc8782b6d5cdc457c" /><Relationship Type="http://schemas.openxmlformats.org/officeDocument/2006/relationships/notesSlide" Target="/ppt/notesSlides/notesSlide11.xml" Id="R8ecd350e194243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6b1a119eca4e33" /><Relationship Type="http://schemas.openxmlformats.org/officeDocument/2006/relationships/image" Target="/ppt/media/image17.png" Id="R6ca2ec74f9094eb0" /><Relationship Type="http://schemas.openxmlformats.org/officeDocument/2006/relationships/notesSlide" Target="/ppt/notesSlides/notesSlide12.xml" Id="Rf969ee8bb5c04c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6bcbadaee41cc" /><Relationship Type="http://schemas.openxmlformats.org/officeDocument/2006/relationships/notesSlide" Target="/ppt/notesSlides/notesSlide13.xml" Id="R74c7c3aeedc943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6efa9a3f784411" /><Relationship Type="http://schemas.openxmlformats.org/officeDocument/2006/relationships/image" Target="/ppt/media/image18.png" Id="Rcc5768948d784226" /><Relationship Type="http://schemas.openxmlformats.org/officeDocument/2006/relationships/notesSlide" Target="/ppt/notesSlides/notesSlide14.xml" Id="R28cf00a8783342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FACD9-1A39-4EB8-B4DF-EDE8D54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C1848-BD4E-40F8-87C8-36DAC21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GRAPHICS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99388-0F6D-44DA-8199-08B2A564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Optional plots for the WD 1856 / detrending discussion.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AE4D3-FBB3-423E-BE9C-025DFDC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950EE-C049-4F01-BFD2-B564B4D8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chooser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D1918-982A-423A-8960-0F7D7016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AB31C-4F91-4357-AE78-EB7019D9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Use these as insert slides or backup discussion slides. The main talk can stay sparse while this bank gives you alternatives for questions.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65222ebe64a91"/>
          <a:stretch xmlns:a="http://schemas.openxmlformats.org/drawingml/2006/main"/>
        </p:blipFill>
        <p:spPr>
          <a:xfrm xmlns:a="http://schemas.openxmlformats.org/drawingml/2006/main">
            <a:off x="647700" y="2173642"/>
            <a:ext cx="3105150" cy="3082217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289b54b61417b"/>
          <a:stretch xmlns:a="http://schemas.openxmlformats.org/drawingml/2006/main"/>
        </p:blipFill>
        <p:spPr>
          <a:xfrm xmlns:a="http://schemas.openxmlformats.org/drawingml/2006/main">
            <a:off x="4626769" y="1981200"/>
            <a:ext cx="2366963" cy="1666875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d9b0ac9194756"/>
          <a:stretch xmlns:a="http://schemas.openxmlformats.org/drawingml/2006/main"/>
        </p:blipFill>
        <p:spPr>
          <a:xfrm xmlns:a="http://schemas.openxmlformats.org/drawingml/2006/main">
            <a:off x="8237188" y="1981200"/>
            <a:ext cx="2689923" cy="166687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71ea02ae74f3a"/>
          <a:stretch xmlns:a="http://schemas.openxmlformats.org/drawingml/2006/main"/>
        </p:blipFill>
        <p:spPr>
          <a:xfrm xmlns:a="http://schemas.openxmlformats.org/drawingml/2006/main">
            <a:off x="4409928" y="4000500"/>
            <a:ext cx="2800644" cy="166687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c5e08add5464b"/>
          <a:stretch xmlns:a="http://schemas.openxmlformats.org/drawingml/2006/main"/>
        </p:blipFill>
        <p:spPr>
          <a:xfrm xmlns:a="http://schemas.openxmlformats.org/drawingml/2006/main">
            <a:off x="8354318" y="4000500"/>
            <a:ext cx="2455664" cy="1666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51813-5B6C-4750-AC1C-F88CF67A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pixel footprint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F8CBD-63E9-469B-B580-79DE889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old metric caveat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A0783-E395-4D06-8194-BF229F82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injection 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BCA06-E444-4F11-8D68-98AA7F7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34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variant comparison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EB690-88A4-4FDC-A9F6-3DA8513F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34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Franklin BLS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7AC8C-A470-45D5-9DA8-A1F32D39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16E5F-E5D4-49FA-B653-056E7092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 optional graphics-first slides</a:t>
            </a:r>
          </a:p>
        </p:txBody>
      </p:sp>
    </p:spTree>
    <p:extLst>
      <p:ext uri="{BB962C8B-B14F-4D97-AF65-F5344CB8AC3E}">
        <p14:creationId xmlns:p14="http://schemas.microsoft.com/office/powerpoint/2010/main" val="1304251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4435C-8D67-40E1-9B89-260C89EE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30ADE-3BA4-4C63-AFB9-D9EA2AE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WD 1856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E4B60-AD73-4443-9B76-C495DB8B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The aperture footprint is a useful pixel-scale anchor.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C6F7D-ED23-405D-ABE5-B3917CF0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754C8-380B-4E7C-96DA-978A0900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pixel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087C0-3E96-4F80-9D34-227476B5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02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17583ba5c4ae0"/>
          <a:stretch xmlns:a="http://schemas.openxmlformats.org/drawingml/2006/main"/>
        </p:blipFill>
        <p:spPr>
          <a:xfrm xmlns:a="http://schemas.openxmlformats.org/drawingml/2006/main">
            <a:off x="1677732" y="1428750"/>
            <a:ext cx="479793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E5F54-D5E6-4FEF-8C5E-8C83F052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430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Generated from the local S56 HDF5 centroid and aperture centers for TIC 267574918.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4C25-066B-4406-9B18-DF8DB013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2BC23-4ECA-411F-87A4-2087B0B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76525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S56 cam4/ccd1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5C3FC-FC65-445D-89B5-0AB54361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766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A4C7F-6C7B-474A-9B40-E4A3BAA7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81375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1x1 / 3x3 / 5x5 apertures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3A3F8-9F6E-4C6C-BB89-9C24A2F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814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93E1A-1B13-4355-8C63-78C654B8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86225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not a cutout intensity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BE125-5FB9-471C-82E8-903516FE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95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I did not find a pre-made WD 1856 cutout pixel-intensity map locally.</a:t>
            </a:r>
          </a:p>
        </p:txBody>
      </p:sp>
    </p:spTree>
    <p:extLst>
      <p:ext uri="{BB962C8B-B14F-4D97-AF65-F5344CB8AC3E}">
        <p14:creationId xmlns:p14="http://schemas.microsoft.com/office/powerpoint/2010/main" val="7267050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6106A-7A80-4B34-BE93-2B0256E7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253A6-2D4A-4B2C-A71C-C9D6DB7B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WD 1856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8FE5D-EE04-47B0-86F7-7654495B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Keep one simple slide that shows both the sector view and the 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E8E1E-3010-4DF3-9358-29A64342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3C45D-3C3F-4DD1-B3DF-5B403073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benchmark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E9569-F125-44EA-B908-DDB717F9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03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fb2a4ef1f4f6d"/>
          <a:stretch xmlns:a="http://schemas.openxmlformats.org/drawingml/2006/main"/>
        </p:blipFill>
        <p:spPr>
          <a:xfrm xmlns:a="http://schemas.openxmlformats.org/drawingml/2006/main">
            <a:off x="552450" y="1444833"/>
            <a:ext cx="5381625" cy="421598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d9908655f455c"/>
          <a:stretch xmlns:a="http://schemas.openxmlformats.org/drawingml/2006/main"/>
        </p:blipFill>
        <p:spPr>
          <a:xfrm xmlns:a="http://schemas.openxmlformats.org/drawingml/2006/main">
            <a:off x="6238875" y="1425383"/>
            <a:ext cx="5381625" cy="425488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9F6E8-2253-4CB9-8007-77BF00D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full S56 light curve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1F40F-6216-4414-874B-BB413E9C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055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phase-folded benchmark event</a:t>
            </a:r>
          </a:p>
        </p:txBody>
      </p:sp>
    </p:spTree>
    <p:extLst>
      <p:ext uri="{BB962C8B-B14F-4D97-AF65-F5344CB8AC3E}">
        <p14:creationId xmlns:p14="http://schemas.microsoft.com/office/powerpoint/2010/main" val="8954116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0AB59-63A8-4504-B654-42203DF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ED79E-0108-40D9-BB63-059BF04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DETRENDING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339A2-D9A6-4F10-A8FC-BF329091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The old precision diagnostic should be shown as a caveat, not a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7C065-850D-47C4-98AB-FE96446E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2B65-C8C1-4F3F-ACE5-778ED42E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old metric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66AD0-0878-49AF-BA7A-EC4D2542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04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53948ed4a4d79"/>
          <a:stretch xmlns:a="http://schemas.openxmlformats.org/drawingml/2006/main"/>
        </p:blipFill>
        <p:spPr>
          <a:xfrm xmlns:a="http://schemas.openxmlformats.org/drawingml/2006/main">
            <a:off x="1375791" y="1428750"/>
            <a:ext cx="6573393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54E1C-2095-4161-ADCA-FFD752D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5260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5C803-58D6-4BED-81A9-7FE8474F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5737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unphysical faint-end flattening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C0209-9F7F-41D4-9947-F9881FB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574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D2EF2-C276-4A4A-8A1D-D40B4ACC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6222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likely denominator / clipping issue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E1580-0A21-417F-ABD5-B60318F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6230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10F0E-50BC-48FD-AA36-6F2CB28A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6707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 for QA motivation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576C6-5D33-4E71-BCD7-83B677D2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14800"/>
            <a:ext cx="2714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This slide tees up why precision has to be recomputed from an expected-flux denominator and non-clipped residuals.</a:t>
            </a:r>
          </a:p>
        </p:txBody>
      </p:sp>
    </p:spTree>
    <p:extLst>
      <p:ext uri="{BB962C8B-B14F-4D97-AF65-F5344CB8AC3E}">
        <p14:creationId xmlns:p14="http://schemas.microsoft.com/office/powerpoint/2010/main" val="19228558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E4AF1C-D2E6-43EE-A207-54E05DF3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14480-7FDD-4F89-8815-70428304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DETRENDING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6D709-752D-4A04-87F3-24F8350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Negative and near-zero flux cadences are the stress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D901F-8595-4494-B73A-F295A4E4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8ED-B3B0-4D0E-A2F7-B5DFC7BF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old metric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CEEE-8DB8-4610-852D-A8657B3C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05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a80705fca43bf"/>
          <a:stretch xmlns:a="http://schemas.openxmlformats.org/drawingml/2006/main"/>
        </p:blipFill>
        <p:spPr>
          <a:xfrm xmlns:a="http://schemas.openxmlformats.org/drawingml/2006/main">
            <a:off x="1272093" y="1381125"/>
            <a:ext cx="6475989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28587-DDAF-4B22-B34D-5CDA197C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009C5-8FC9-44B7-88F0-BC4E6D8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do not clip legitimate residuals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C585C-47BF-4DA8-A8F3-A6867240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1E191-0EE0-4F26-AB45-75A0F515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622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avoid fragile flux / spline ratios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70AE0-869D-42E7-8D26-E4F4C6BF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623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94AE1-0C17-4634-AA9C-2F206615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670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audit QUALITY behavior separately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4210-F4B2-4BCB-8B6D-FCCC7E78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2910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Useful if Andrew or Kevin asks why the faint-end precision curve was not trusted.</a:t>
            </a:r>
          </a:p>
        </p:txBody>
      </p:sp>
    </p:spTree>
    <p:extLst>
      <p:ext uri="{BB962C8B-B14F-4D97-AF65-F5344CB8AC3E}">
        <p14:creationId xmlns:p14="http://schemas.microsoft.com/office/powerpoint/2010/main" val="6071730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8947A-AEDD-4EA4-95ED-534008D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08C84-7838-4276-A154-7C564EE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COMPARISON ANCHOR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A73AE-2D45-4050-8AF3-5FCFCC9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WD 1856 still needs aperture and product-to-product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B2B2B-25C9-49BE-9179-979FBEC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07C57-4176-4221-A5E2-62798E37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what we compare 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9C504-A6AD-4499-A7EE-57A9C5A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06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399c8ebf44c2b"/>
          <a:stretch xmlns:a="http://schemas.openxmlformats.org/drawingml/2006/main"/>
        </p:blipFill>
        <p:spPr>
          <a:xfrm xmlns:a="http://schemas.openxmlformats.org/drawingml/2006/main">
            <a:off x="791790" y="1428750"/>
            <a:ext cx="7217519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266D4-5773-4B3C-9892-EF5DF91C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716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7B9C7-2093-4FF3-9516-F8561276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7642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QLP mag-space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DED3F-9EDE-4855-AFF9-B7BA9171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FE282-ADFC-4588-B76E-10D39796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8127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TWIRL flux-space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288B8-666B-4BBD-9AEA-CAC0745F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13F01-FCC9-40A7-8797-8CE113A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86125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event timing + depth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65791-727E-4F71-8B98-56D833F6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2714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This is a concise benchmark slide for the comparison work already done before claiming production readiness.</a:t>
            </a:r>
          </a:p>
        </p:txBody>
      </p:sp>
    </p:spTree>
    <p:extLst>
      <p:ext uri="{BB962C8B-B14F-4D97-AF65-F5344CB8AC3E}">
        <p14:creationId xmlns:p14="http://schemas.microsoft.com/office/powerpoint/2010/main" val="5653997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5FE9BB-CD71-4D76-833F-FD00F5C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5A8A0-E9FA-4C32-90C6-D557F17E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DETRENDING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19D30-F929-4487-A51F-56EA040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The comparison runs show where ratio-style detrending breaks.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22B3B-129B-4687-A007-894EF55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210F0-2FFA-4719-962A-291B184C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what we tried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DF68D-5AA8-41D0-BE8B-A0BD862C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07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740f7d444ace"/>
          <a:stretch xmlns:a="http://schemas.openxmlformats.org/drawingml/2006/main"/>
        </p:blipFill>
        <p:spPr>
          <a:xfrm xmlns:a="http://schemas.openxmlformats.org/drawingml/2006/main">
            <a:off x="1325628" y="1428750"/>
            <a:ext cx="6416544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77326-95B8-4E8A-9C59-9B439323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EDC1C-B9FC-4EBC-88F1-EA175995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1452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divisive cotrend can explode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0D4F9-5766-46AF-92B3-7A96AA59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146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A24B-FF12-4CD5-BC1C-F7F2B1F3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1937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subtractive variants stay finite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1DA26-FAE9-40EE-99DE-18520E2C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194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1A98F-DAD2-4926-B953-9A34CC5E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adp03/adp03q were comparison variants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E6A83-C954-48DF-8CEE-D22ABA16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8625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Good optional slide when the group wants evidence behind the flux-space choice.</a:t>
            </a:r>
          </a:p>
        </p:txBody>
      </p:sp>
    </p:spTree>
    <p:extLst>
      <p:ext uri="{BB962C8B-B14F-4D97-AF65-F5344CB8AC3E}">
        <p14:creationId xmlns:p14="http://schemas.microsoft.com/office/powerpoint/2010/main" val="1157949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C768FF-A719-4806-8161-E0F5C678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4B7D-ECD2-4DDE-8182-C8200D2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DETRENDING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35D3F-250A-4CF1-BF34-B6771DCB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Variant-level retention makes the comparison easier to discuss.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76F6D-F559-4FF8-8E7F-CFFEB0C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CA30D-9B38-4252-9288-0DF0058F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what we tried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2262F-03A0-460F-A36E-A2E17B47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08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3a7fcb3474c62"/>
          <a:stretch xmlns:a="http://schemas.openxmlformats.org/drawingml/2006/main"/>
        </p:blipFill>
        <p:spPr>
          <a:xfrm xmlns:a="http://schemas.openxmlformats.org/drawingml/2006/main">
            <a:off x="742950" y="1456196"/>
            <a:ext cx="7429500" cy="442185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9AB71-8CFC-4541-AE3F-AAB77AE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045AA-7733-402B-9032-5CB84410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7167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auto robust scaling near 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E611F-13C2-43A1-A868-41A6DA04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CF8FE-D3E3-4988-A873-4F8F0C6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7652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divisive and median variants are unstable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1811D-0ECF-489B-838F-A6932E7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1825C-0BD2-47F2-BAC2-83D0BA48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adp03/adp03q are sanity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817B6-FC6F-4346-B5EB-515C79C5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This is a cleaner black-and-white alternative to the raw diagnostic panels.</a:t>
            </a:r>
          </a:p>
        </p:txBody>
      </p:sp>
    </p:spTree>
    <p:extLst>
      <p:ext uri="{BB962C8B-B14F-4D97-AF65-F5344CB8AC3E}">
        <p14:creationId xmlns:p14="http://schemas.microsoft.com/office/powerpoint/2010/main" val="2956875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899C10-2FC9-4788-941A-E5C7933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B9443-8E36-47F4-A70E-DA45924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DETRENDING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F324A-8A81-4CC1-89DE-0DC2766B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Smooth trends alone do not define the best detrending choice.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99626-1D6F-42C8-99B8-41DAFC40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3F5EE-8652-45BD-9C5D-A33D7B4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metric tradeoff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AB860-C3A0-4A2E-A238-85FEA857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09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da3c431ff467d"/>
          <a:stretch xmlns:a="http://schemas.openxmlformats.org/drawingml/2006/main"/>
        </p:blipFill>
        <p:spPr>
          <a:xfrm xmlns:a="http://schemas.openxmlformats.org/drawingml/2006/main">
            <a:off x="884224" y="1381125"/>
            <a:ext cx="7194577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FDB34-693D-4359-98D0-AE932B42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24E6B-CCF4-4C89-99B8-9ECCA4C7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977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x-axis: old smoothness 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F7600-06CC-452A-89FA-FEAE42BD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AE761-B793-457C-97E7-DCA9ACD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1462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y-axis: injected-depth retention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0B162-F6D5-45B0-B954-9F41C62F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FED0F-395A-4C62-9F95-120550E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1947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bkspace around 0.8d is a compromise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84006-8FA6-4A21-8078-A67A6C75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This is the compact version of the parameter sweep argument.</a:t>
            </a:r>
          </a:p>
        </p:txBody>
      </p:sp>
    </p:spTree>
    <p:extLst>
      <p:ext uri="{BB962C8B-B14F-4D97-AF65-F5344CB8AC3E}">
        <p14:creationId xmlns:p14="http://schemas.microsoft.com/office/powerpoint/2010/main" val="9520602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FE8A6A-5DB2-4A7B-AD1C-02D8486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31BAC-DFF0-4DD2-BA07-70A926C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INJECTION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FE0AB-DEFF-43A4-9566-15B30336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Short-event injections are the tuning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ADAD7-FA15-4591-B95B-9804FF1E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E13E1-484C-4785-A605-FF96DFA8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LC-level injections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E7515-1338-4CDB-A5AB-E355E7B7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10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bafd37ee5469d"/>
          <a:stretch xmlns:a="http://schemas.openxmlformats.org/drawingml/2006/main"/>
        </p:blipFill>
        <p:spPr>
          <a:xfrm xmlns:a="http://schemas.openxmlformats.org/drawingml/2006/main">
            <a:off x="835338" y="1381125"/>
            <a:ext cx="7378075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BAC10-B7A9-45E7-AEA0-B6B273B6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5737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34B01-9E0E-4D6B-A0BC-C357EF20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62150"/>
            <a:ext cx="2200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10% injected 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F1550-DE4F-4D5F-B141-EF6817A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6222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6383A-0B58-4578-BA6C-13637E13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67000"/>
            <a:ext cx="2200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5-200 minute duration grid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9BA47-FF60-4144-BC98-3F6E6EA1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6707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F1FD2-6D9E-4137-B6A4-C8F0CF65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71850"/>
            <a:ext cx="2200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 LC-level sweep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71E33-9A09-46A5-9B43-3A184301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4340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Use this to invite discussion on the duration grid and first-pass acceptance threshold.</a:t>
            </a:r>
          </a:p>
        </p:txBody>
      </p:sp>
    </p:spTree>
    <p:extLst>
      <p:ext uri="{BB962C8B-B14F-4D97-AF65-F5344CB8AC3E}">
        <p14:creationId xmlns:p14="http://schemas.microsoft.com/office/powerpoint/2010/main" val="8976412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EE6B1-DBB0-4FBA-B142-877169D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350DF-AAD7-4A7A-A34F-20FEAE32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INJECTION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D4EC6-F9F7-4FD2-98DF-21E8958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Long-event injections test whether the spline starts eating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5D406-80CF-48C1-B8A9-91AF1FD3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9E185-C4B1-4B3F-A4E2-34E96E9B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LC-level injections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0668E-7CD1-4776-B881-E7846B07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11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82b6d5cdc457c"/>
          <a:stretch xmlns:a="http://schemas.openxmlformats.org/drawingml/2006/main"/>
        </p:blipFill>
        <p:spPr>
          <a:xfrm xmlns:a="http://schemas.openxmlformats.org/drawingml/2006/main">
            <a:off x="854032" y="1381125"/>
            <a:ext cx="7340686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384C2-9F06-4535-B651-C119E5C8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5737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6D588-C173-40C3-8724-2DF59A59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62150"/>
            <a:ext cx="2200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180-360 minute durations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7249F-8CEB-47AF-B2B3-5011AA16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6222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36868-D282-4187-A7BB-6C8F4EEC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67000"/>
            <a:ext cx="2200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stays above 90%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CFCAF-1575-4A46-83C0-AE004C2F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6707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49D41-3A69-4FEC-97F8-8C7EEF1A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71850"/>
            <a:ext cx="22002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different failure mode than WD 1856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275D1-E48D-445E-90BA-47050B7B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4340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Useful backup if the room pushes on broad occultations or longer-duration dips.</a:t>
            </a:r>
          </a:p>
        </p:txBody>
      </p:sp>
    </p:spTree>
    <p:extLst>
      <p:ext uri="{BB962C8B-B14F-4D97-AF65-F5344CB8AC3E}">
        <p14:creationId xmlns:p14="http://schemas.microsoft.com/office/powerpoint/2010/main" val="12051713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2BB89-7BED-4C76-9193-3B10336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6D919-140C-448A-8554-A11663A1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INJECTION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47F8B-BD1B-44AC-962B-A8D1FEFA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Synthetic zero-crossing cases are the cleanest ratio-failure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25407-2FB3-499C-9241-826671DA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1893D-E16F-4A81-8E9B-C9E1937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stress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DFB17-C6F5-44EC-B78B-A066A737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12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2ec74f9094eb0"/>
          <a:stretch xmlns:a="http://schemas.openxmlformats.org/drawingml/2006/main"/>
        </p:blipFill>
        <p:spPr>
          <a:xfrm xmlns:a="http://schemas.openxmlformats.org/drawingml/2006/main">
            <a:off x="1303561" y="1352550"/>
            <a:ext cx="6574977" cy="4743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BE526-BA2D-4058-8381-558A94A9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511A6-F9EE-4C42-8185-4AB1B233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7167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controlled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60A93-8998-4085-B493-C508E1D6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67DA8-6968-4B8A-872D-E666F91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7652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negative / near-zero residuals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B29E9-5A5D-4656-9915-3E0C872B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09F4B-1F37-4FF3-AF1C-42058B3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8137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ratio path visibly unstable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7E5FE-7D66-48F5-BD17-C354FCE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3400"/>
            <a:ext cx="2619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This is a good explanatory slide before showing real S56 faint-end examples.</a:t>
            </a:r>
          </a:p>
        </p:txBody>
      </p:sp>
    </p:spTree>
    <p:extLst>
      <p:ext uri="{BB962C8B-B14F-4D97-AF65-F5344CB8AC3E}">
        <p14:creationId xmlns:p14="http://schemas.microsoft.com/office/powerpoint/2010/main" val="20963159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22073-D8F2-48B4-A5EF-C349E186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59C49-BFD8-451D-885D-E4D24344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INJECTION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6560A-3074-4153-9C72-BCC0169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Use LC-level injections for tuning; reserve pixel-level for completeness.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B3294-3538-4C5A-8F25-C1790DC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1D7F4-62E5-437C-A64B-A2110325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test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C7523-8EAA-4CD8-908F-AB44C9B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13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D6D93-33B7-44C9-B3E7-696095BC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LC-level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028B7-46FA-4E45-AB24-52782F0D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24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9DD56-A534-4D7F-9B4B-95D3B743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383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observed HDF5 / HLSP 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F927D-ECC3-4302-ACE0-F89396EF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52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512D0-B7BD-43FE-B471-9811C758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B075E-11BA-42F4-960B-AD9D9DA2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inject transit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02916-3486-4A52-B726-CB543AA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52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54563-3B9A-4CC5-AF48-8A796DB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46D97-E95C-4C21-8793-0365BB2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detrend +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2EE8A-DB4D-4036-B6A8-7A564B3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84931-F768-46FF-BB8E-659396CC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1828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C9223-7177-40EF-B632-1CD513E2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383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rank recovery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4FF16-04D9-4D32-B477-28256877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pixel-level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1A42D-F956-415C-B1F2-699ECE36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5A73F-3F5D-4726-9931-E780E6E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433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inject into pixels / scene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9DDF8-2BBD-42C6-AAF1-9798336D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57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2AAEB-8D5D-4EC0-B139-6755F249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9A37-8EB8-4DEB-B186-5E0D6CD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TGLC extraction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8D09E-811B-49F6-AA5B-B681BC1F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57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BC965-53C8-4930-9A0E-A1B4C3C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F72BA-81FB-4997-B98D-D89E2106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detrend +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58010-BA3D-4084-9314-D2AF9BF0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CD633-E628-4AC7-A595-968CBEC1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1828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12CDB3-19AD-41CB-8E3B-26C5DD6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end-to-end completeness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E2783-3BD3-459B-9151-36BB0BF8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0"/>
            <a:ext cx="382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0379D7-3B91-4A2F-AAA6-458407D0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57775"/>
            <a:ext cx="3600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LC-level: cheap, fast, good for parameter sweeps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1D4DA0-4C58-4247-A98E-F3BA104F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3F1145-C7BF-44D6-A042-21082B20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57775"/>
            <a:ext cx="3962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pixel-level: expensive, needed for aperture and crowding failures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6C2981-20CB-49DD-9E18-52849113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769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Discussion hook: first decide what the LC-level tests must prove, then spend pixel-level compute only where it changes the science claim.</a:t>
            </a:r>
          </a:p>
        </p:txBody>
      </p:sp>
    </p:spTree>
    <p:extLst>
      <p:ext uri="{BB962C8B-B14F-4D97-AF65-F5344CB8AC3E}">
        <p14:creationId xmlns:p14="http://schemas.microsoft.com/office/powerpoint/2010/main" val="102158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64163-C882-49B5-8019-AF7FD6D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CA754-89C5-4892-9B6E-EC7906A4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D6D"/>
                </a:solidFill>
                <a:latin typeface="Aptos"/>
                <a:ea typeface="Aptos"/>
                <a:cs typeface="Aptos"/>
              </a:rPr>
              <a:t>UNDERGRADUATE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44FA8-432E-426F-9E0D-9B45623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Franklin's BLS run is a strong progress artifact, before vetting.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C24B3-2D54-4C3E-8A29-7FD20FB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9A54A-7895-4B37-8A2B-73D7646F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search progress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E7139-3E98-443C-B021-D62B8C6E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6D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D6D"/>
                </a:solidFill>
                <a:latin typeface="Aptos"/>
                <a:ea typeface="Aptos"/>
                <a:cs typeface="Aptos"/>
              </a:rPr>
              <a:t>14 / 14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768948d784226"/>
          <a:stretch xmlns:a="http://schemas.openxmlformats.org/drawingml/2006/main"/>
        </p:blipFill>
        <p:spPr>
          <a:xfrm xmlns:a="http://schemas.openxmlformats.org/drawingml/2006/main">
            <a:off x="1519578" y="1428750"/>
            <a:ext cx="6847795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AF457-A269-4CF4-B46E-13F37F33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0975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10585-9C93-4AEE-9F70-F57EF6A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1452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BLS diagnostic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672AB-07E9-4D0B-806F-A0CBC06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1460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01E3A-F4CC-4C5B-806C-442F6B7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193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SDE 64.9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E249C-A452-4EDC-BE8F-9C6B484F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66405-4E33-4BF1-87B7-3938E608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2422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not yet a vetting sheet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4324F-4083-4C9E-953A-E5344F8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Frame this as undergraduate search progress: benchmark recovered, vetting next.</a:t>
            </a:r>
          </a:p>
        </p:txBody>
      </p:sp>
    </p:spTree>
    <p:extLst>
      <p:ext uri="{BB962C8B-B14F-4D97-AF65-F5344CB8AC3E}">
        <p14:creationId xmlns:p14="http://schemas.microsoft.com/office/powerpoint/2010/main" val="1464431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2026-06-01T15:28:57.8700000Z</dcterms:created>
  <dcterms:modified xsi:type="dcterms:W3CDTF">2026-06-01T15:28:57.8700000Z</dcterms:modified>
</coreProperties>
</file>